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Здравствуйте. Меня зовут Иванов Никита Сергеевич, группа БПИ2304. Проект называется «Полка». Это каталог отзывов на игры. Средняя оценка на карточке считается только по отзывам людей, которые зарегистрировались на сайте. Цифру из магазина я не подставляю.</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Проблема: в магазине одна общая оценка, и по ней не понять, кому игра зашла. Пример из каталога: у Hollow Knight на Полке три отзыва с именами, средняя 9,0. Задача актуальна для человека, который вечером выбирает игру и хочет прочитать два-три отзыва, а не тысячу баллов.</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Продукт — каталог «Полка». Среднюю считает сам сайт, не магазин. Один человек оставляет один отзыв на игру, оценка от 1 до 10. Своё можно исправить, чужое нельзя. Без входа каталог читается. После входа можно написать отзыв и добавить игру. Уже работают поиск, фильтр, своя средняя, обложка и страница новинок с ценой.</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Система из трёх частей, все три собрал я, Иванов Никита Сергеевич. Страницы показывают каталог и формы. Сервер принимает вход, отзыв и новую игру, пароль хранится как хеш. База — один файл SQLite, он создаётся при первом запуске. Описание новой игры может прийти из RAWG. Если ключа нет, есть запасной список. Обложку сайт берёт со страницы магазина, а если игры там нет — с сайта студии.</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На этом слайде только то, на чём написан сайт: Next.js, React, TypeScript, Tailwind, SQLite и Node.js. Магазины сюда не входят. Это источники картинок и ссылок, а не технологии проекта. Все модули собрал Иванов Никита Сергеевич. Проверка запускается командой npm test, автотестов восемь.</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Целевая аудитория узкая: человек, который выбирает игру вечером. Сначала это свои, потом любой, кто зарегистрировался. Steam, Metacritic и RAWG уже закрывают магазин, общую оценку и большую базу. Отличие Полки: видно, кто написал отзыв, средняя считается здесь, и игры сайт не продаёт.</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Бизнес-модель сейчас простая: сайт ничего не продаёт. Игры не продаются, оценка не продаётся. Чтение и отзыв бесплатны специально, чтобы балл нельзя было купить. Если продукт развивать, возможен кабинет для студии: читать отзывы своего круга. Этого в прототипе нет.</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Показываю работающий прототип. На главной карточки с обложкой, жанром и оценкой. Disco Elysium первый, потому что здесь ему поставили 10. Hollow Knight: 9,0 по трём отзывам, у каждого есть имя. Эти экраны собрал Иванов Никита Сергеевич. Без входа можно читать, поставить оценку можно после входа.</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Этот слайд я не читаю целиком, а открываю сайт. Фильтр «Платформер» оставляет Celeste. На Hollow Knight три отзыва с именами. Вхожу как demo@polka.local, пароль polka1234. Добавляю Cuphead: обложка уже стоит. Ставлю одну оценку и показываю, что сервер пересчитал среднюю. В шапке открываю свои игры и свои отзывы. Всё это собрал я.</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Команда проекта: Иванов Никита Сергеевич, разработчик, группа БПИ2304. В работу вошли страницы, сервер и база, ссылки на магазины и проверка. По своей части готов ответить на вопросы.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Мои результаты: собраны страницы каталога, входа, отзыва и новинок, есть тёмная тема. Один человек не может оставить второй отзыв на ту же игру, чужое править нельзя. Автотестов восемь, пользовательских историй восемь, в стартовом каталоге десять игр. Технологии те же, что на слайде со стеком.</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За проект получился рабочий сайт. В комплекте десять игр и шестнадцать отзывов. Средняя считается только по отзывам на Полке. Второй отзыв того же человека не сохраняется. У игры есть обложка и кнопка магазина, только если игра там продаётся, рядом оценка этого магазина. На новинках дата и цена в четырёх валютах. Рубли посчитаны из долларовой цены по курсу Банка России.</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Ближайшие шаги: дать оставить отзыв на новинку и расширить стартовый набор. Своя средняя и оценка магазина остаются разными цифрами. Позже сайт можно вынести на постоянный адрес, чтобы он открывался без включённого компьютера, и сделать кабинет для студии. Продавать игры Полка не будет.</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Коротко: «Полка» — каталог отзывов, средняя считается по людям этого сайта, у каждого отзыва есть имя. Один человек оставляет один отзыв, чужое править нельзя. Прототип работает, сценарии я только что показал. Меня зовут Иванов Никита Сергеевич, группа БПИ2304. Готов ответить на вопросы. Спасибо.</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91440" cy="6858000"/>
          </a:xfrm>
          <a:prstGeom prst="rect">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6510528"/>
            <a:ext cx="7315200" cy="256032"/>
          </a:xfrm>
          <a:prstGeom prst="rect">
            <a:avLst/>
          </a:prstGeom>
          <a:noFill/>
        </p:spPr>
        <p:txBody>
          <a:bodyPr wrap="square" lIns="0" rIns="0" tIns="0" bIns="0"/>
          <a:lstStyle/>
          <a:p>
            <a:pPr algn="l"/>
            <a:r>
              <a:rPr sz="1300" b="0">
                <a:solidFill>
                  <a:srgbClr val="5E564A"/>
                </a:solidFill>
                <a:latin typeface="Calibri"/>
                <a:ea typeface="Calibri"/>
                <a:cs typeface="Calibri"/>
              </a:rPr>
              <a:t>Полка  ·  отзывы на игры</a:t>
            </a:r>
          </a:p>
        </p:txBody>
      </p:sp>
      <p:sp>
        <p:nvSpPr>
          <p:cNvPr id="4" name="TextBox 3"/>
          <p:cNvSpPr txBox="1"/>
          <p:nvPr/>
        </p:nvSpPr>
        <p:spPr>
          <a:xfrm>
            <a:off x="9692640" y="6510528"/>
            <a:ext cx="2103120" cy="256032"/>
          </a:xfrm>
          <a:prstGeom prst="rect">
            <a:avLst/>
          </a:prstGeom>
          <a:noFill/>
        </p:spPr>
        <p:txBody>
          <a:bodyPr wrap="square" lIns="0" rIns="0" tIns="0" bIns="0"/>
          <a:lstStyle/>
          <a:p>
            <a:pPr algn="r"/>
            <a:r>
              <a:rPr sz="1300" b="0">
                <a:solidFill>
                  <a:srgbClr val="5E564A"/>
                </a:solidFill>
                <a:latin typeface="Calibri"/>
                <a:ea typeface="Calibri"/>
                <a:cs typeface="Calibri"/>
              </a:rPr>
              <a:t>1  /  14</a:t>
            </a:r>
          </a:p>
        </p:txBody>
      </p:sp>
      <p:sp>
        <p:nvSpPr>
          <p:cNvPr id="5" name="TextBox 4"/>
          <p:cNvSpPr txBox="1"/>
          <p:nvPr/>
        </p:nvSpPr>
        <p:spPr>
          <a:xfrm>
            <a:off x="438912" y="1325880"/>
            <a:ext cx="9144000" cy="274320"/>
          </a:xfrm>
          <a:prstGeom prst="rect">
            <a:avLst/>
          </a:prstGeom>
          <a:noFill/>
        </p:spPr>
        <p:txBody>
          <a:bodyPr wrap="square" lIns="0" rIns="0" tIns="0" bIns="0"/>
          <a:lstStyle/>
          <a:p>
            <a:pPr algn="l"/>
            <a:r>
              <a:rPr sz="1400" b="1">
                <a:solidFill>
                  <a:srgbClr val="C2412D"/>
                </a:solidFill>
                <a:latin typeface="Calibri"/>
                <a:ea typeface="Calibri"/>
                <a:cs typeface="Calibri"/>
              </a:rPr>
              <a:t>ПРОЕКТНЫЙ ПРАКТИКУМ</a:t>
            </a:r>
          </a:p>
        </p:txBody>
      </p:sp>
      <p:sp>
        <p:nvSpPr>
          <p:cNvPr id="6" name="TextBox 5"/>
          <p:cNvSpPr txBox="1"/>
          <p:nvPr/>
        </p:nvSpPr>
        <p:spPr>
          <a:xfrm>
            <a:off x="438912" y="1737360"/>
            <a:ext cx="9144000" cy="1097280"/>
          </a:xfrm>
          <a:prstGeom prst="rect">
            <a:avLst/>
          </a:prstGeom>
          <a:noFill/>
        </p:spPr>
        <p:txBody>
          <a:bodyPr wrap="square" lIns="0" rIns="0" tIns="0" bIns="0"/>
          <a:lstStyle/>
          <a:p>
            <a:pPr algn="l"/>
            <a:r>
              <a:rPr sz="7200" b="1">
                <a:solidFill>
                  <a:srgbClr val="1C1915"/>
                </a:solidFill>
                <a:latin typeface="Calibri"/>
                <a:ea typeface="Calibri"/>
                <a:cs typeface="Calibri"/>
              </a:rPr>
              <a:t>Полка</a:t>
            </a:r>
          </a:p>
        </p:txBody>
      </p:sp>
      <p:sp>
        <p:nvSpPr>
          <p:cNvPr id="7" name="TextBox 6"/>
          <p:cNvSpPr txBox="1"/>
          <p:nvPr/>
        </p:nvSpPr>
        <p:spPr>
          <a:xfrm>
            <a:off x="457200" y="3017520"/>
            <a:ext cx="8229600" cy="640080"/>
          </a:xfrm>
          <a:prstGeom prst="rect">
            <a:avLst/>
          </a:prstGeom>
          <a:noFill/>
        </p:spPr>
        <p:txBody>
          <a:bodyPr wrap="square" lIns="0" rIns="0" tIns="0" bIns="0"/>
          <a:lstStyle/>
          <a:p>
            <a:pPr algn="l"/>
            <a:r>
              <a:rPr sz="2600" b="0">
                <a:solidFill>
                  <a:srgbClr val="1C1915"/>
                </a:solidFill>
                <a:latin typeface="Calibri"/>
                <a:ea typeface="Calibri"/>
                <a:cs typeface="Calibri"/>
              </a:rPr>
              <a:t>Отзывы на игры. Оценку ставят люди на сайте.</a:t>
            </a:r>
          </a:p>
        </p:txBody>
      </p:sp>
      <p:sp>
        <p:nvSpPr>
          <p:cNvPr id="8" name="Rectangle 7"/>
          <p:cNvSpPr/>
          <p:nvPr/>
        </p:nvSpPr>
        <p:spPr>
          <a:xfrm>
            <a:off x="457200" y="3977639"/>
            <a:ext cx="2011680" cy="54864"/>
          </a:xfrm>
          <a:prstGeom prst="rect">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4251960"/>
            <a:ext cx="9144000" cy="365760"/>
          </a:xfrm>
          <a:prstGeom prst="rect">
            <a:avLst/>
          </a:prstGeom>
          <a:noFill/>
        </p:spPr>
        <p:txBody>
          <a:bodyPr wrap="square" lIns="0" rIns="0" tIns="0" bIns="0"/>
          <a:lstStyle/>
          <a:p>
            <a:pPr algn="l"/>
            <a:r>
              <a:rPr sz="2400" b="1">
                <a:solidFill>
                  <a:srgbClr val="1C1915"/>
                </a:solidFill>
                <a:latin typeface="Calibri"/>
                <a:ea typeface="Calibri"/>
                <a:cs typeface="Calibri"/>
              </a:rPr>
              <a:t>Иванов Никита Сергеевич</a:t>
            </a:r>
          </a:p>
        </p:txBody>
      </p:sp>
      <p:sp>
        <p:nvSpPr>
          <p:cNvPr id="10" name="TextBox 9"/>
          <p:cNvSpPr txBox="1"/>
          <p:nvPr/>
        </p:nvSpPr>
        <p:spPr>
          <a:xfrm>
            <a:off x="457200" y="4754880"/>
            <a:ext cx="7315200" cy="320040"/>
          </a:xfrm>
          <a:prstGeom prst="rect">
            <a:avLst/>
          </a:prstGeom>
          <a:noFill/>
        </p:spPr>
        <p:txBody>
          <a:bodyPr wrap="square" lIns="0" rIns="0" tIns="0" bIns="0"/>
          <a:lstStyle/>
          <a:p>
            <a:pPr algn="l"/>
            <a:r>
              <a:rPr sz="2000" b="0">
                <a:solidFill>
                  <a:srgbClr val="5E564A"/>
                </a:solidFill>
                <a:latin typeface="Calibri"/>
                <a:ea typeface="Calibri"/>
                <a:cs typeface="Calibri"/>
              </a:rPr>
              <a:t>Группа БПИ2304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91440" cy="6858000"/>
          </a:xfrm>
          <a:prstGeom prst="rect">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6510528"/>
            <a:ext cx="7315200" cy="256032"/>
          </a:xfrm>
          <a:prstGeom prst="rect">
            <a:avLst/>
          </a:prstGeom>
          <a:noFill/>
        </p:spPr>
        <p:txBody>
          <a:bodyPr wrap="square" lIns="0" rIns="0" tIns="0" bIns="0"/>
          <a:lstStyle/>
          <a:p>
            <a:pPr algn="l"/>
            <a:r>
              <a:rPr sz="1300" b="0">
                <a:solidFill>
                  <a:srgbClr val="5E564A"/>
                </a:solidFill>
                <a:latin typeface="Calibri"/>
                <a:ea typeface="Calibri"/>
                <a:cs typeface="Calibri"/>
              </a:rPr>
              <a:t>Полка  ·  отзывы на игры</a:t>
            </a:r>
          </a:p>
        </p:txBody>
      </p:sp>
      <p:sp>
        <p:nvSpPr>
          <p:cNvPr id="4" name="TextBox 3"/>
          <p:cNvSpPr txBox="1"/>
          <p:nvPr/>
        </p:nvSpPr>
        <p:spPr>
          <a:xfrm>
            <a:off x="9692640" y="6510528"/>
            <a:ext cx="2103120" cy="256032"/>
          </a:xfrm>
          <a:prstGeom prst="rect">
            <a:avLst/>
          </a:prstGeom>
          <a:noFill/>
        </p:spPr>
        <p:txBody>
          <a:bodyPr wrap="square" lIns="0" rIns="0" tIns="0" bIns="0"/>
          <a:lstStyle/>
          <a:p>
            <a:pPr algn="r"/>
            <a:r>
              <a:rPr sz="1300" b="0">
                <a:solidFill>
                  <a:srgbClr val="5E564A"/>
                </a:solidFill>
                <a:latin typeface="Calibri"/>
                <a:ea typeface="Calibri"/>
                <a:cs typeface="Calibri"/>
              </a:rPr>
              <a:t>2  /  14</a:t>
            </a:r>
          </a:p>
        </p:txBody>
      </p:sp>
      <p:sp>
        <p:nvSpPr>
          <p:cNvPr id="5" name="TextBox 4"/>
          <p:cNvSpPr txBox="1"/>
          <p:nvPr/>
        </p:nvSpPr>
        <p:spPr>
          <a:xfrm>
            <a:off x="438912" y="256032"/>
            <a:ext cx="10972800" cy="256032"/>
          </a:xfrm>
          <a:prstGeom prst="rect">
            <a:avLst/>
          </a:prstGeom>
          <a:noFill/>
        </p:spPr>
        <p:txBody>
          <a:bodyPr wrap="square" lIns="0" rIns="0" tIns="0" bIns="0"/>
          <a:lstStyle/>
          <a:p>
            <a:pPr algn="l"/>
            <a:r>
              <a:rPr sz="1300" b="1">
                <a:solidFill>
                  <a:srgbClr val="C2412D"/>
                </a:solidFill>
                <a:latin typeface="Calibri"/>
                <a:ea typeface="Calibri"/>
                <a:cs typeface="Calibri"/>
              </a:rPr>
              <a:t>ПРОБЛЕМНАЯ ОБЛАСТЬ</a:t>
            </a:r>
          </a:p>
        </p:txBody>
      </p:sp>
      <p:sp>
        <p:nvSpPr>
          <p:cNvPr id="6" name="TextBox 5"/>
          <p:cNvSpPr txBox="1"/>
          <p:nvPr/>
        </p:nvSpPr>
        <p:spPr>
          <a:xfrm>
            <a:off x="438912" y="530352"/>
            <a:ext cx="11155680" cy="777240"/>
          </a:xfrm>
          <a:prstGeom prst="rect">
            <a:avLst/>
          </a:prstGeom>
          <a:noFill/>
        </p:spPr>
        <p:txBody>
          <a:bodyPr wrap="square" lIns="0" rIns="0" tIns="0" bIns="0"/>
          <a:lstStyle/>
          <a:p>
            <a:pPr algn="l"/>
            <a:r>
              <a:rPr sz="3200" b="1">
                <a:solidFill>
                  <a:srgbClr val="1C1915"/>
                </a:solidFill>
                <a:latin typeface="Calibri"/>
                <a:ea typeface="Calibri"/>
                <a:cs typeface="Calibri"/>
              </a:rPr>
              <a:t>Оценка есть. Автора не видно.</a:t>
            </a:r>
          </a:p>
        </p:txBody>
      </p:sp>
      <p:sp>
        <p:nvSpPr>
          <p:cNvPr id="7" name="Rounded Rectangle 6"/>
          <p:cNvSpPr/>
          <p:nvPr/>
        </p:nvSpPr>
        <p:spPr>
          <a:xfrm>
            <a:off x="438912" y="1737360"/>
            <a:ext cx="3611880" cy="429768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965960"/>
            <a:ext cx="3108960" cy="365760"/>
          </a:xfrm>
          <a:prstGeom prst="rect">
            <a:avLst/>
          </a:prstGeom>
          <a:noFill/>
        </p:spPr>
        <p:txBody>
          <a:bodyPr wrap="square" lIns="0" rIns="0" tIns="0" bIns="0"/>
          <a:lstStyle/>
          <a:p>
            <a:pPr algn="l"/>
            <a:r>
              <a:rPr sz="1800" b="1">
                <a:solidFill>
                  <a:srgbClr val="C2412D"/>
                </a:solidFill>
                <a:latin typeface="Calibri"/>
                <a:ea typeface="Calibri"/>
                <a:cs typeface="Calibri"/>
              </a:rPr>
              <a:t>01</a:t>
            </a:r>
          </a:p>
        </p:txBody>
      </p:sp>
      <p:sp>
        <p:nvSpPr>
          <p:cNvPr id="9" name="TextBox 8"/>
          <p:cNvSpPr txBox="1"/>
          <p:nvPr/>
        </p:nvSpPr>
        <p:spPr>
          <a:xfrm>
            <a:off x="694944" y="2514600"/>
            <a:ext cx="3108960" cy="1005840"/>
          </a:xfrm>
          <a:prstGeom prst="rect">
            <a:avLst/>
          </a:prstGeom>
          <a:noFill/>
        </p:spPr>
        <p:txBody>
          <a:bodyPr wrap="square" lIns="0" rIns="0" tIns="0" bIns="0"/>
          <a:lstStyle/>
          <a:p>
            <a:pPr algn="l"/>
            <a:r>
              <a:rPr sz="2600" b="1">
                <a:solidFill>
                  <a:srgbClr val="1C1915"/>
                </a:solidFill>
                <a:latin typeface="Calibri"/>
                <a:ea typeface="Calibri"/>
                <a:cs typeface="Calibri"/>
              </a:rPr>
              <a:t>Магазин</a:t>
            </a:r>
          </a:p>
        </p:txBody>
      </p:sp>
      <p:sp>
        <p:nvSpPr>
          <p:cNvPr id="10" name="TextBox 9"/>
          <p:cNvSpPr txBox="1"/>
          <p:nvPr/>
        </p:nvSpPr>
        <p:spPr>
          <a:xfrm>
            <a:off x="694944" y="3703320"/>
            <a:ext cx="3108960" cy="1920240"/>
          </a:xfrm>
          <a:prstGeom prst="rect">
            <a:avLst/>
          </a:prstGeom>
          <a:noFill/>
        </p:spPr>
        <p:txBody>
          <a:bodyPr wrap="square" lIns="0" rIns="0" tIns="0" bIns="0"/>
          <a:lstStyle/>
          <a:p>
            <a:pPr algn="l"/>
            <a:r>
              <a:rPr sz="1800" b="0">
                <a:solidFill>
                  <a:srgbClr val="5E564A"/>
                </a:solidFill>
                <a:latin typeface="Calibri"/>
                <a:ea typeface="Calibri"/>
                <a:cs typeface="Calibri"/>
              </a:rPr>
              <a:t>Одна цифра на тысячи голосов. Кто поставил балл, не видно.</a:t>
            </a:r>
          </a:p>
        </p:txBody>
      </p:sp>
      <p:sp>
        <p:nvSpPr>
          <p:cNvPr id="11" name="Rounded Rectangle 10"/>
          <p:cNvSpPr/>
          <p:nvPr/>
        </p:nvSpPr>
        <p:spPr>
          <a:xfrm>
            <a:off x="4233672" y="1737360"/>
            <a:ext cx="3611880" cy="429768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9704" y="1965960"/>
            <a:ext cx="3108960" cy="365760"/>
          </a:xfrm>
          <a:prstGeom prst="rect">
            <a:avLst/>
          </a:prstGeom>
          <a:noFill/>
        </p:spPr>
        <p:txBody>
          <a:bodyPr wrap="square" lIns="0" rIns="0" tIns="0" bIns="0"/>
          <a:lstStyle/>
          <a:p>
            <a:pPr algn="l"/>
            <a:r>
              <a:rPr sz="1800" b="1">
                <a:solidFill>
                  <a:srgbClr val="C2412D"/>
                </a:solidFill>
                <a:latin typeface="Calibri"/>
                <a:ea typeface="Calibri"/>
                <a:cs typeface="Calibri"/>
              </a:rPr>
              <a:t>02</a:t>
            </a:r>
          </a:p>
        </p:txBody>
      </p:sp>
      <p:sp>
        <p:nvSpPr>
          <p:cNvPr id="13" name="TextBox 12"/>
          <p:cNvSpPr txBox="1"/>
          <p:nvPr/>
        </p:nvSpPr>
        <p:spPr>
          <a:xfrm>
            <a:off x="4489704" y="2514600"/>
            <a:ext cx="3108960" cy="1005840"/>
          </a:xfrm>
          <a:prstGeom prst="rect">
            <a:avLst/>
          </a:prstGeom>
          <a:noFill/>
        </p:spPr>
        <p:txBody>
          <a:bodyPr wrap="square" lIns="0" rIns="0" tIns="0" bIns="0"/>
          <a:lstStyle/>
          <a:p>
            <a:pPr algn="l"/>
            <a:r>
              <a:rPr sz="2600" b="1">
                <a:solidFill>
                  <a:srgbClr val="1C1915"/>
                </a:solidFill>
                <a:latin typeface="Calibri"/>
                <a:ea typeface="Calibri"/>
                <a:cs typeface="Calibri"/>
              </a:rPr>
              <a:t>Пример</a:t>
            </a:r>
          </a:p>
        </p:txBody>
      </p:sp>
      <p:sp>
        <p:nvSpPr>
          <p:cNvPr id="14" name="TextBox 13"/>
          <p:cNvSpPr txBox="1"/>
          <p:nvPr/>
        </p:nvSpPr>
        <p:spPr>
          <a:xfrm>
            <a:off x="4489704" y="3703320"/>
            <a:ext cx="3108960" cy="1920240"/>
          </a:xfrm>
          <a:prstGeom prst="rect">
            <a:avLst/>
          </a:prstGeom>
          <a:noFill/>
        </p:spPr>
        <p:txBody>
          <a:bodyPr wrap="square" lIns="0" rIns="0" tIns="0" bIns="0"/>
          <a:lstStyle/>
          <a:p>
            <a:pPr algn="l"/>
            <a:r>
              <a:rPr sz="1800" b="0">
                <a:solidFill>
                  <a:srgbClr val="5E564A"/>
                </a:solidFill>
                <a:latin typeface="Calibri"/>
                <a:ea typeface="Calibri"/>
                <a:cs typeface="Calibri"/>
              </a:rPr>
              <a:t>Hollow Knight: на Полке три отзыва с именами и средняя 9,0.</a:t>
            </a:r>
          </a:p>
        </p:txBody>
      </p:sp>
      <p:sp>
        <p:nvSpPr>
          <p:cNvPr id="15" name="Rounded Rectangle 14"/>
          <p:cNvSpPr/>
          <p:nvPr/>
        </p:nvSpPr>
        <p:spPr>
          <a:xfrm>
            <a:off x="8028432" y="1737360"/>
            <a:ext cx="3611880" cy="429768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4464" y="1965960"/>
            <a:ext cx="3108960" cy="365760"/>
          </a:xfrm>
          <a:prstGeom prst="rect">
            <a:avLst/>
          </a:prstGeom>
          <a:noFill/>
        </p:spPr>
        <p:txBody>
          <a:bodyPr wrap="square" lIns="0" rIns="0" tIns="0" bIns="0"/>
          <a:lstStyle/>
          <a:p>
            <a:pPr algn="l"/>
            <a:r>
              <a:rPr sz="1800" b="1">
                <a:solidFill>
                  <a:srgbClr val="C2412D"/>
                </a:solidFill>
                <a:latin typeface="Calibri"/>
                <a:ea typeface="Calibri"/>
                <a:cs typeface="Calibri"/>
              </a:rPr>
              <a:t>03</a:t>
            </a:r>
          </a:p>
        </p:txBody>
      </p:sp>
      <p:sp>
        <p:nvSpPr>
          <p:cNvPr id="17" name="TextBox 16"/>
          <p:cNvSpPr txBox="1"/>
          <p:nvPr/>
        </p:nvSpPr>
        <p:spPr>
          <a:xfrm>
            <a:off x="8284464" y="2514600"/>
            <a:ext cx="3108960" cy="1005840"/>
          </a:xfrm>
          <a:prstGeom prst="rect">
            <a:avLst/>
          </a:prstGeom>
          <a:noFill/>
        </p:spPr>
        <p:txBody>
          <a:bodyPr wrap="square" lIns="0" rIns="0" tIns="0" bIns="0"/>
          <a:lstStyle/>
          <a:p>
            <a:pPr algn="l"/>
            <a:r>
              <a:rPr sz="2600" b="1">
                <a:solidFill>
                  <a:srgbClr val="1C1915"/>
                </a:solidFill>
                <a:latin typeface="Calibri"/>
                <a:ea typeface="Calibri"/>
                <a:cs typeface="Calibri"/>
              </a:rPr>
              <a:t>Зачем это</a:t>
            </a:r>
          </a:p>
        </p:txBody>
      </p:sp>
      <p:sp>
        <p:nvSpPr>
          <p:cNvPr id="18" name="TextBox 17"/>
          <p:cNvSpPr txBox="1"/>
          <p:nvPr/>
        </p:nvSpPr>
        <p:spPr>
          <a:xfrm>
            <a:off x="8284464" y="3703320"/>
            <a:ext cx="3108960" cy="1920240"/>
          </a:xfrm>
          <a:prstGeom prst="rect">
            <a:avLst/>
          </a:prstGeom>
          <a:noFill/>
        </p:spPr>
        <p:txBody>
          <a:bodyPr wrap="square" lIns="0" rIns="0" tIns="0" bIns="0"/>
          <a:lstStyle/>
          <a:p>
            <a:pPr algn="l"/>
            <a:r>
              <a:rPr sz="1800" b="0">
                <a:solidFill>
                  <a:srgbClr val="5E564A"/>
                </a:solidFill>
                <a:latin typeface="Calibri"/>
                <a:ea typeface="Calibri"/>
                <a:cs typeface="Calibri"/>
              </a:rPr>
              <a:t>Вечером человек выбирает игру и хочет два живых мнения, не толпу баллов.</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91440" cy="6858000"/>
          </a:xfrm>
          <a:prstGeom prst="rect">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6510528"/>
            <a:ext cx="7315200" cy="256032"/>
          </a:xfrm>
          <a:prstGeom prst="rect">
            <a:avLst/>
          </a:prstGeom>
          <a:noFill/>
        </p:spPr>
        <p:txBody>
          <a:bodyPr wrap="square" lIns="0" rIns="0" tIns="0" bIns="0"/>
          <a:lstStyle/>
          <a:p>
            <a:pPr algn="l"/>
            <a:r>
              <a:rPr sz="1300" b="0">
                <a:solidFill>
                  <a:srgbClr val="5E564A"/>
                </a:solidFill>
                <a:latin typeface="Calibri"/>
                <a:ea typeface="Calibri"/>
                <a:cs typeface="Calibri"/>
              </a:rPr>
              <a:t>Полка  ·  отзывы на игры</a:t>
            </a:r>
          </a:p>
        </p:txBody>
      </p:sp>
      <p:sp>
        <p:nvSpPr>
          <p:cNvPr id="4" name="TextBox 3"/>
          <p:cNvSpPr txBox="1"/>
          <p:nvPr/>
        </p:nvSpPr>
        <p:spPr>
          <a:xfrm>
            <a:off x="9692640" y="6510528"/>
            <a:ext cx="2103120" cy="256032"/>
          </a:xfrm>
          <a:prstGeom prst="rect">
            <a:avLst/>
          </a:prstGeom>
          <a:noFill/>
        </p:spPr>
        <p:txBody>
          <a:bodyPr wrap="square" lIns="0" rIns="0" tIns="0" bIns="0"/>
          <a:lstStyle/>
          <a:p>
            <a:pPr algn="r"/>
            <a:r>
              <a:rPr sz="1300" b="0">
                <a:solidFill>
                  <a:srgbClr val="5E564A"/>
                </a:solidFill>
                <a:latin typeface="Calibri"/>
                <a:ea typeface="Calibri"/>
                <a:cs typeface="Calibri"/>
              </a:rPr>
              <a:t>3  /  14</a:t>
            </a:r>
          </a:p>
        </p:txBody>
      </p:sp>
      <p:sp>
        <p:nvSpPr>
          <p:cNvPr id="5" name="TextBox 4"/>
          <p:cNvSpPr txBox="1"/>
          <p:nvPr/>
        </p:nvSpPr>
        <p:spPr>
          <a:xfrm>
            <a:off x="438912" y="256032"/>
            <a:ext cx="10972800" cy="256032"/>
          </a:xfrm>
          <a:prstGeom prst="rect">
            <a:avLst/>
          </a:prstGeom>
          <a:noFill/>
        </p:spPr>
        <p:txBody>
          <a:bodyPr wrap="square" lIns="0" rIns="0" tIns="0" bIns="0"/>
          <a:lstStyle/>
          <a:p>
            <a:pPr algn="l"/>
            <a:r>
              <a:rPr sz="1300" b="1">
                <a:solidFill>
                  <a:srgbClr val="C2412D"/>
                </a:solidFill>
                <a:latin typeface="Calibri"/>
                <a:ea typeface="Calibri"/>
                <a:cs typeface="Calibri"/>
              </a:rPr>
              <a:t>РЕШЕНИЕ</a:t>
            </a:r>
          </a:p>
        </p:txBody>
      </p:sp>
      <p:sp>
        <p:nvSpPr>
          <p:cNvPr id="6" name="TextBox 5"/>
          <p:cNvSpPr txBox="1"/>
          <p:nvPr/>
        </p:nvSpPr>
        <p:spPr>
          <a:xfrm>
            <a:off x="438912" y="530352"/>
            <a:ext cx="11155680" cy="777240"/>
          </a:xfrm>
          <a:prstGeom prst="rect">
            <a:avLst/>
          </a:prstGeom>
          <a:noFill/>
        </p:spPr>
        <p:txBody>
          <a:bodyPr wrap="square" lIns="0" rIns="0" tIns="0" bIns="0"/>
          <a:lstStyle/>
          <a:p>
            <a:pPr algn="l"/>
            <a:r>
              <a:rPr sz="3200" b="1">
                <a:solidFill>
                  <a:srgbClr val="1C1915"/>
                </a:solidFill>
                <a:latin typeface="Calibri"/>
                <a:ea typeface="Calibri"/>
                <a:cs typeface="Calibri"/>
              </a:rPr>
              <a:t>Среднюю считает сам сайт</a:t>
            </a:r>
          </a:p>
        </p:txBody>
      </p:sp>
      <p:sp>
        <p:nvSpPr>
          <p:cNvPr id="7" name="Rounded Rectangle 6"/>
          <p:cNvSpPr/>
          <p:nvPr/>
        </p:nvSpPr>
        <p:spPr>
          <a:xfrm>
            <a:off x="438912" y="1600200"/>
            <a:ext cx="11292840" cy="932688"/>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21792" y="1764792"/>
            <a:ext cx="603504" cy="603504"/>
          </a:xfrm>
          <a:prstGeom prst="roundRect">
            <a:avLst>
              <a:gd name="adj" fmla="val 8000"/>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874519"/>
            <a:ext cx="603504" cy="384048"/>
          </a:xfrm>
          <a:prstGeom prst="rect">
            <a:avLst/>
          </a:prstGeom>
          <a:noFill/>
        </p:spPr>
        <p:txBody>
          <a:bodyPr wrap="square" lIns="0" rIns="0" tIns="0" bIns="0"/>
          <a:lstStyle/>
          <a:p>
            <a:pPr algn="ctr"/>
            <a:r>
              <a:rPr sz="2000" b="1">
                <a:solidFill>
                  <a:srgbClr val="FFFCF6"/>
                </a:solidFill>
                <a:latin typeface="Calibri"/>
                <a:ea typeface="Calibri"/>
                <a:cs typeface="Calibri"/>
              </a:rPr>
              <a:t>1</a:t>
            </a:r>
          </a:p>
        </p:txBody>
      </p:sp>
      <p:sp>
        <p:nvSpPr>
          <p:cNvPr id="10" name="TextBox 9"/>
          <p:cNvSpPr txBox="1"/>
          <p:nvPr/>
        </p:nvSpPr>
        <p:spPr>
          <a:xfrm>
            <a:off x="1463040" y="1856232"/>
            <a:ext cx="9875520" cy="457200"/>
          </a:xfrm>
          <a:prstGeom prst="rect">
            <a:avLst/>
          </a:prstGeom>
          <a:noFill/>
        </p:spPr>
        <p:txBody>
          <a:bodyPr wrap="square" lIns="0" rIns="0" tIns="0" bIns="0"/>
          <a:lstStyle/>
          <a:p>
            <a:pPr algn="l"/>
            <a:r>
              <a:rPr sz="2200" b="0">
                <a:solidFill>
                  <a:srgbClr val="1C1915"/>
                </a:solidFill>
                <a:latin typeface="Calibri"/>
                <a:ea typeface="Calibri"/>
                <a:cs typeface="Calibri"/>
              </a:rPr>
              <a:t>Один человек — один отзыв на игру. Оценка от 1 до 10.</a:t>
            </a:r>
          </a:p>
        </p:txBody>
      </p:sp>
      <p:sp>
        <p:nvSpPr>
          <p:cNvPr id="11" name="Rounded Rectangle 10"/>
          <p:cNvSpPr/>
          <p:nvPr/>
        </p:nvSpPr>
        <p:spPr>
          <a:xfrm>
            <a:off x="438912" y="2651760"/>
            <a:ext cx="11292840" cy="932688"/>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1792" y="2816352"/>
            <a:ext cx="603504" cy="603504"/>
          </a:xfrm>
          <a:prstGeom prst="roundRect">
            <a:avLst>
              <a:gd name="adj" fmla="val 8000"/>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926079"/>
            <a:ext cx="603504" cy="384048"/>
          </a:xfrm>
          <a:prstGeom prst="rect">
            <a:avLst/>
          </a:prstGeom>
          <a:noFill/>
        </p:spPr>
        <p:txBody>
          <a:bodyPr wrap="square" lIns="0" rIns="0" tIns="0" bIns="0"/>
          <a:lstStyle/>
          <a:p>
            <a:pPr algn="ctr"/>
            <a:r>
              <a:rPr sz="2000" b="1">
                <a:solidFill>
                  <a:srgbClr val="FFFCF6"/>
                </a:solidFill>
                <a:latin typeface="Calibri"/>
                <a:ea typeface="Calibri"/>
                <a:cs typeface="Calibri"/>
              </a:rPr>
              <a:t>2</a:t>
            </a:r>
          </a:p>
        </p:txBody>
      </p:sp>
      <p:sp>
        <p:nvSpPr>
          <p:cNvPr id="14" name="TextBox 13"/>
          <p:cNvSpPr txBox="1"/>
          <p:nvPr/>
        </p:nvSpPr>
        <p:spPr>
          <a:xfrm>
            <a:off x="1463040" y="2907791"/>
            <a:ext cx="9875520" cy="457200"/>
          </a:xfrm>
          <a:prstGeom prst="rect">
            <a:avLst/>
          </a:prstGeom>
          <a:noFill/>
        </p:spPr>
        <p:txBody>
          <a:bodyPr wrap="square" lIns="0" rIns="0" tIns="0" bIns="0"/>
          <a:lstStyle/>
          <a:p>
            <a:pPr algn="l"/>
            <a:r>
              <a:rPr sz="2200" b="0">
                <a:solidFill>
                  <a:srgbClr val="1C1915"/>
                </a:solidFill>
                <a:latin typeface="Calibri"/>
                <a:ea typeface="Calibri"/>
                <a:cs typeface="Calibri"/>
              </a:rPr>
              <a:t>Свой текст можно исправить. Чужую карточку и чужой отзыв — нет.</a:t>
            </a:r>
          </a:p>
        </p:txBody>
      </p:sp>
      <p:sp>
        <p:nvSpPr>
          <p:cNvPr id="15" name="Rounded Rectangle 14"/>
          <p:cNvSpPr/>
          <p:nvPr/>
        </p:nvSpPr>
        <p:spPr>
          <a:xfrm>
            <a:off x="438912" y="3703320"/>
            <a:ext cx="11292840" cy="932688"/>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21792" y="3867911"/>
            <a:ext cx="603504" cy="603504"/>
          </a:xfrm>
          <a:prstGeom prst="roundRect">
            <a:avLst>
              <a:gd name="adj" fmla="val 8000"/>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977639"/>
            <a:ext cx="603504" cy="384048"/>
          </a:xfrm>
          <a:prstGeom prst="rect">
            <a:avLst/>
          </a:prstGeom>
          <a:noFill/>
        </p:spPr>
        <p:txBody>
          <a:bodyPr wrap="square" lIns="0" rIns="0" tIns="0" bIns="0"/>
          <a:lstStyle/>
          <a:p>
            <a:pPr algn="ctr"/>
            <a:r>
              <a:rPr sz="2000" b="1">
                <a:solidFill>
                  <a:srgbClr val="FFFCF6"/>
                </a:solidFill>
                <a:latin typeface="Calibri"/>
                <a:ea typeface="Calibri"/>
                <a:cs typeface="Calibri"/>
              </a:rPr>
              <a:t>3</a:t>
            </a:r>
          </a:p>
        </p:txBody>
      </p:sp>
      <p:sp>
        <p:nvSpPr>
          <p:cNvPr id="18" name="TextBox 17"/>
          <p:cNvSpPr txBox="1"/>
          <p:nvPr/>
        </p:nvSpPr>
        <p:spPr>
          <a:xfrm>
            <a:off x="1463040" y="3959352"/>
            <a:ext cx="9875520" cy="457200"/>
          </a:xfrm>
          <a:prstGeom prst="rect">
            <a:avLst/>
          </a:prstGeom>
          <a:noFill/>
        </p:spPr>
        <p:txBody>
          <a:bodyPr wrap="square" lIns="0" rIns="0" tIns="0" bIns="0"/>
          <a:lstStyle/>
          <a:p>
            <a:pPr algn="l"/>
            <a:r>
              <a:rPr sz="2200" b="0">
                <a:solidFill>
                  <a:srgbClr val="1C1915"/>
                </a:solidFill>
                <a:latin typeface="Calibri"/>
                <a:ea typeface="Calibri"/>
                <a:cs typeface="Calibri"/>
              </a:rPr>
              <a:t>Каталог читается без входа. Писать отзыв и добавлять игру — после входа.</a:t>
            </a:r>
          </a:p>
        </p:txBody>
      </p:sp>
      <p:sp>
        <p:nvSpPr>
          <p:cNvPr id="19" name="TextBox 18"/>
          <p:cNvSpPr txBox="1"/>
          <p:nvPr/>
        </p:nvSpPr>
        <p:spPr>
          <a:xfrm>
            <a:off x="438912" y="4846320"/>
            <a:ext cx="11247120" cy="320040"/>
          </a:xfrm>
          <a:prstGeom prst="rect">
            <a:avLst/>
          </a:prstGeom>
          <a:noFill/>
        </p:spPr>
        <p:txBody>
          <a:bodyPr wrap="square" lIns="0" rIns="0" tIns="0" bIns="0"/>
          <a:lstStyle/>
          <a:p>
            <a:pPr algn="l"/>
            <a:r>
              <a:rPr sz="1600" b="1">
                <a:solidFill>
                  <a:srgbClr val="C2412D"/>
                </a:solidFill>
                <a:latin typeface="Calibri"/>
                <a:ea typeface="Calibri"/>
                <a:cs typeface="Calibri"/>
              </a:rPr>
              <a:t>Что уже работает</a:t>
            </a:r>
          </a:p>
        </p:txBody>
      </p:sp>
      <p:sp>
        <p:nvSpPr>
          <p:cNvPr id="20" name="Rounded Rectangle 19"/>
          <p:cNvSpPr/>
          <p:nvPr/>
        </p:nvSpPr>
        <p:spPr>
          <a:xfrm>
            <a:off x="438912" y="5257800"/>
            <a:ext cx="2761488" cy="868680"/>
          </a:xfrm>
          <a:prstGeom prst="roundRect">
            <a:avLst>
              <a:gd name="adj" fmla="val 8000"/>
            </a:avLst>
          </a:prstGeom>
          <a:solidFill>
            <a:srgbClr val="1C19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8912" y="5486400"/>
            <a:ext cx="2761488" cy="411480"/>
          </a:xfrm>
          <a:prstGeom prst="rect">
            <a:avLst/>
          </a:prstGeom>
          <a:noFill/>
        </p:spPr>
        <p:txBody>
          <a:bodyPr wrap="square" lIns="0" rIns="0" tIns="0" bIns="0"/>
          <a:lstStyle/>
          <a:p>
            <a:pPr algn="ctr"/>
            <a:r>
              <a:rPr sz="1800" b="1">
                <a:solidFill>
                  <a:srgbClr val="FFFCF6"/>
                </a:solidFill>
                <a:latin typeface="Calibri"/>
                <a:ea typeface="Calibri"/>
                <a:cs typeface="Calibri"/>
              </a:rPr>
              <a:t>Поиск и фильтр</a:t>
            </a:r>
          </a:p>
        </p:txBody>
      </p:sp>
      <p:sp>
        <p:nvSpPr>
          <p:cNvPr id="22" name="Rounded Rectangle 21"/>
          <p:cNvSpPr/>
          <p:nvPr/>
        </p:nvSpPr>
        <p:spPr>
          <a:xfrm>
            <a:off x="3364992" y="5257800"/>
            <a:ext cx="2761488" cy="868680"/>
          </a:xfrm>
          <a:prstGeom prst="roundRect">
            <a:avLst>
              <a:gd name="adj" fmla="val 8000"/>
            </a:avLst>
          </a:prstGeom>
          <a:solidFill>
            <a:srgbClr val="1C19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364992" y="5486400"/>
            <a:ext cx="2761488" cy="411480"/>
          </a:xfrm>
          <a:prstGeom prst="rect">
            <a:avLst/>
          </a:prstGeom>
          <a:noFill/>
        </p:spPr>
        <p:txBody>
          <a:bodyPr wrap="square" lIns="0" rIns="0" tIns="0" bIns="0"/>
          <a:lstStyle/>
          <a:p>
            <a:pPr algn="ctr"/>
            <a:r>
              <a:rPr sz="1800" b="1">
                <a:solidFill>
                  <a:srgbClr val="FFFCF6"/>
                </a:solidFill>
                <a:latin typeface="Calibri"/>
                <a:ea typeface="Calibri"/>
                <a:cs typeface="Calibri"/>
              </a:rPr>
              <a:t>Своя средняя</a:t>
            </a:r>
          </a:p>
        </p:txBody>
      </p:sp>
      <p:sp>
        <p:nvSpPr>
          <p:cNvPr id="24" name="Rounded Rectangle 23"/>
          <p:cNvSpPr/>
          <p:nvPr/>
        </p:nvSpPr>
        <p:spPr>
          <a:xfrm>
            <a:off x="6291072" y="5257800"/>
            <a:ext cx="2761488" cy="868680"/>
          </a:xfrm>
          <a:prstGeom prst="roundRect">
            <a:avLst>
              <a:gd name="adj" fmla="val 8000"/>
            </a:avLst>
          </a:prstGeom>
          <a:solidFill>
            <a:srgbClr val="1C19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91072" y="5486400"/>
            <a:ext cx="2761488" cy="411480"/>
          </a:xfrm>
          <a:prstGeom prst="rect">
            <a:avLst/>
          </a:prstGeom>
          <a:noFill/>
        </p:spPr>
        <p:txBody>
          <a:bodyPr wrap="square" lIns="0" rIns="0" tIns="0" bIns="0"/>
          <a:lstStyle/>
          <a:p>
            <a:pPr algn="ctr"/>
            <a:r>
              <a:rPr sz="1800" b="1">
                <a:solidFill>
                  <a:srgbClr val="FFFCF6"/>
                </a:solidFill>
                <a:latin typeface="Calibri"/>
                <a:ea typeface="Calibri"/>
                <a:cs typeface="Calibri"/>
              </a:rPr>
              <a:t>Обложка игры</a:t>
            </a:r>
          </a:p>
        </p:txBody>
      </p:sp>
      <p:sp>
        <p:nvSpPr>
          <p:cNvPr id="26" name="Rounded Rectangle 25"/>
          <p:cNvSpPr/>
          <p:nvPr/>
        </p:nvSpPr>
        <p:spPr>
          <a:xfrm>
            <a:off x="9217152" y="5257800"/>
            <a:ext cx="2761488" cy="868680"/>
          </a:xfrm>
          <a:prstGeom prst="roundRect">
            <a:avLst>
              <a:gd name="adj" fmla="val 8000"/>
            </a:avLst>
          </a:prstGeom>
          <a:solidFill>
            <a:srgbClr val="1C19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17152" y="5486400"/>
            <a:ext cx="2761488" cy="411480"/>
          </a:xfrm>
          <a:prstGeom prst="rect">
            <a:avLst/>
          </a:prstGeom>
          <a:noFill/>
        </p:spPr>
        <p:txBody>
          <a:bodyPr wrap="square" lIns="0" rIns="0" tIns="0" bIns="0"/>
          <a:lstStyle/>
          <a:p>
            <a:pPr algn="ctr"/>
            <a:r>
              <a:rPr sz="1800" b="1">
                <a:solidFill>
                  <a:srgbClr val="FFFCF6"/>
                </a:solidFill>
                <a:latin typeface="Calibri"/>
                <a:ea typeface="Calibri"/>
                <a:cs typeface="Calibri"/>
              </a:rPr>
              <a:t>Новинки и цена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91440" cy="6858000"/>
          </a:xfrm>
          <a:prstGeom prst="rect">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6510528"/>
            <a:ext cx="7315200" cy="256032"/>
          </a:xfrm>
          <a:prstGeom prst="rect">
            <a:avLst/>
          </a:prstGeom>
          <a:noFill/>
        </p:spPr>
        <p:txBody>
          <a:bodyPr wrap="square" lIns="0" rIns="0" tIns="0" bIns="0"/>
          <a:lstStyle/>
          <a:p>
            <a:pPr algn="l"/>
            <a:r>
              <a:rPr sz="1300" b="0">
                <a:solidFill>
                  <a:srgbClr val="5E564A"/>
                </a:solidFill>
                <a:latin typeface="Calibri"/>
                <a:ea typeface="Calibri"/>
                <a:cs typeface="Calibri"/>
              </a:rPr>
              <a:t>Полка  ·  отзывы на игры</a:t>
            </a:r>
          </a:p>
        </p:txBody>
      </p:sp>
      <p:sp>
        <p:nvSpPr>
          <p:cNvPr id="4" name="TextBox 3"/>
          <p:cNvSpPr txBox="1"/>
          <p:nvPr/>
        </p:nvSpPr>
        <p:spPr>
          <a:xfrm>
            <a:off x="9692640" y="6510528"/>
            <a:ext cx="2103120" cy="256032"/>
          </a:xfrm>
          <a:prstGeom prst="rect">
            <a:avLst/>
          </a:prstGeom>
          <a:noFill/>
        </p:spPr>
        <p:txBody>
          <a:bodyPr wrap="square" lIns="0" rIns="0" tIns="0" bIns="0"/>
          <a:lstStyle/>
          <a:p>
            <a:pPr algn="r"/>
            <a:r>
              <a:rPr sz="1300" b="0">
                <a:solidFill>
                  <a:srgbClr val="5E564A"/>
                </a:solidFill>
                <a:latin typeface="Calibri"/>
                <a:ea typeface="Calibri"/>
                <a:cs typeface="Calibri"/>
              </a:rPr>
              <a:t>4  /  14</a:t>
            </a:r>
          </a:p>
        </p:txBody>
      </p:sp>
      <p:sp>
        <p:nvSpPr>
          <p:cNvPr id="5" name="TextBox 4"/>
          <p:cNvSpPr txBox="1"/>
          <p:nvPr/>
        </p:nvSpPr>
        <p:spPr>
          <a:xfrm>
            <a:off x="438912" y="256032"/>
            <a:ext cx="10972800" cy="256032"/>
          </a:xfrm>
          <a:prstGeom prst="rect">
            <a:avLst/>
          </a:prstGeom>
          <a:noFill/>
        </p:spPr>
        <p:txBody>
          <a:bodyPr wrap="square" lIns="0" rIns="0" tIns="0" bIns="0"/>
          <a:lstStyle/>
          <a:p>
            <a:pPr algn="l"/>
            <a:r>
              <a:rPr sz="1300" b="1">
                <a:solidFill>
                  <a:srgbClr val="C2412D"/>
                </a:solidFill>
                <a:latin typeface="Calibri"/>
                <a:ea typeface="Calibri"/>
                <a:cs typeface="Calibri"/>
              </a:rPr>
              <a:t>ТЕХНОЛОГИЧЕСКАЯ РЕАЛИЗАЦИЯ</a:t>
            </a:r>
          </a:p>
        </p:txBody>
      </p:sp>
      <p:sp>
        <p:nvSpPr>
          <p:cNvPr id="6" name="TextBox 5"/>
          <p:cNvSpPr txBox="1"/>
          <p:nvPr/>
        </p:nvSpPr>
        <p:spPr>
          <a:xfrm>
            <a:off x="438912" y="530352"/>
            <a:ext cx="11155680" cy="777240"/>
          </a:xfrm>
          <a:prstGeom prst="rect">
            <a:avLst/>
          </a:prstGeom>
          <a:noFill/>
        </p:spPr>
        <p:txBody>
          <a:bodyPr wrap="square" lIns="0" rIns="0" tIns="0" bIns="0"/>
          <a:lstStyle/>
          <a:p>
            <a:pPr algn="l"/>
            <a:r>
              <a:rPr sz="3200" b="1">
                <a:solidFill>
                  <a:srgbClr val="1C1915"/>
                </a:solidFill>
                <a:latin typeface="Calibri"/>
                <a:ea typeface="Calibri"/>
                <a:cs typeface="Calibri"/>
              </a:rPr>
              <a:t>Три части</a:t>
            </a:r>
          </a:p>
        </p:txBody>
      </p:sp>
      <p:sp>
        <p:nvSpPr>
          <p:cNvPr id="7" name="Rounded Rectangle 6"/>
          <p:cNvSpPr/>
          <p:nvPr/>
        </p:nvSpPr>
        <p:spPr>
          <a:xfrm>
            <a:off x="438912" y="1691640"/>
            <a:ext cx="3611880" cy="288036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1874519"/>
            <a:ext cx="3154680" cy="457200"/>
          </a:xfrm>
          <a:prstGeom prst="rect">
            <a:avLst/>
          </a:prstGeom>
          <a:noFill/>
        </p:spPr>
        <p:txBody>
          <a:bodyPr wrap="square" lIns="0" rIns="0" tIns="0" bIns="0"/>
          <a:lstStyle/>
          <a:p>
            <a:pPr algn="l"/>
            <a:r>
              <a:rPr sz="2400" b="1">
                <a:solidFill>
                  <a:srgbClr val="1C1915"/>
                </a:solidFill>
                <a:latin typeface="Calibri"/>
                <a:ea typeface="Calibri"/>
                <a:cs typeface="Calibri"/>
              </a:rPr>
              <a:t>Страницы</a:t>
            </a:r>
          </a:p>
        </p:txBody>
      </p:sp>
      <p:sp>
        <p:nvSpPr>
          <p:cNvPr id="9" name="TextBox 8"/>
          <p:cNvSpPr txBox="1"/>
          <p:nvPr/>
        </p:nvSpPr>
        <p:spPr>
          <a:xfrm>
            <a:off x="667512" y="2423160"/>
            <a:ext cx="3154680" cy="1234440"/>
          </a:xfrm>
          <a:prstGeom prst="rect">
            <a:avLst/>
          </a:prstGeom>
          <a:noFill/>
        </p:spPr>
        <p:txBody>
          <a:bodyPr wrap="square" lIns="0" rIns="0" tIns="0" bIns="0"/>
          <a:lstStyle/>
          <a:p>
            <a:pPr algn="l"/>
            <a:r>
              <a:rPr sz="1600" b="0">
                <a:solidFill>
                  <a:srgbClr val="5E564A"/>
                </a:solidFill>
                <a:latin typeface="Calibri"/>
                <a:ea typeface="Calibri"/>
                <a:cs typeface="Calibri"/>
              </a:rPr>
              <a:t>Каталог, карточка, вход, форма отзыва, новинки.</a:t>
            </a:r>
          </a:p>
        </p:txBody>
      </p:sp>
      <p:sp>
        <p:nvSpPr>
          <p:cNvPr id="10" name="TextBox 9"/>
          <p:cNvSpPr txBox="1"/>
          <p:nvPr/>
        </p:nvSpPr>
        <p:spPr>
          <a:xfrm>
            <a:off x="667512" y="3886200"/>
            <a:ext cx="3154680" cy="365760"/>
          </a:xfrm>
          <a:prstGeom prst="rect">
            <a:avLst/>
          </a:prstGeom>
          <a:noFill/>
        </p:spPr>
        <p:txBody>
          <a:bodyPr wrap="square" lIns="0" rIns="0" tIns="0" bIns="0"/>
          <a:lstStyle/>
          <a:p>
            <a:pPr algn="l"/>
            <a:r>
              <a:rPr sz="1600" b="1">
                <a:solidFill>
                  <a:srgbClr val="C2412D"/>
                </a:solidFill>
                <a:latin typeface="Calibri"/>
                <a:ea typeface="Calibri"/>
                <a:cs typeface="Calibri"/>
              </a:rPr>
              <a:t>Иванов Н.С.</a:t>
            </a:r>
          </a:p>
        </p:txBody>
      </p:sp>
      <p:sp>
        <p:nvSpPr>
          <p:cNvPr id="11" name="Rounded Rectangle 10"/>
          <p:cNvSpPr/>
          <p:nvPr/>
        </p:nvSpPr>
        <p:spPr>
          <a:xfrm>
            <a:off x="4233672" y="1691640"/>
            <a:ext cx="3611880" cy="288036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62272" y="1874519"/>
            <a:ext cx="3154680" cy="457200"/>
          </a:xfrm>
          <a:prstGeom prst="rect">
            <a:avLst/>
          </a:prstGeom>
          <a:noFill/>
        </p:spPr>
        <p:txBody>
          <a:bodyPr wrap="square" lIns="0" rIns="0" tIns="0" bIns="0"/>
          <a:lstStyle/>
          <a:p>
            <a:pPr algn="l"/>
            <a:r>
              <a:rPr sz="2400" b="1">
                <a:solidFill>
                  <a:srgbClr val="1C1915"/>
                </a:solidFill>
                <a:latin typeface="Calibri"/>
                <a:ea typeface="Calibri"/>
                <a:cs typeface="Calibri"/>
              </a:rPr>
              <a:t>Сервер</a:t>
            </a:r>
          </a:p>
        </p:txBody>
      </p:sp>
      <p:sp>
        <p:nvSpPr>
          <p:cNvPr id="13" name="TextBox 12"/>
          <p:cNvSpPr txBox="1"/>
          <p:nvPr/>
        </p:nvSpPr>
        <p:spPr>
          <a:xfrm>
            <a:off x="4462272" y="2423160"/>
            <a:ext cx="3154680" cy="1234440"/>
          </a:xfrm>
          <a:prstGeom prst="rect">
            <a:avLst/>
          </a:prstGeom>
          <a:noFill/>
        </p:spPr>
        <p:txBody>
          <a:bodyPr wrap="square" lIns="0" rIns="0" tIns="0" bIns="0"/>
          <a:lstStyle/>
          <a:p>
            <a:pPr algn="l"/>
            <a:r>
              <a:rPr sz="1600" b="0">
                <a:solidFill>
                  <a:srgbClr val="5E564A"/>
                </a:solidFill>
                <a:latin typeface="Calibri"/>
                <a:ea typeface="Calibri"/>
                <a:cs typeface="Calibri"/>
              </a:rPr>
              <a:t>Вход, отзыв, новая игра. Пароль сверяется с хешем.</a:t>
            </a:r>
          </a:p>
        </p:txBody>
      </p:sp>
      <p:sp>
        <p:nvSpPr>
          <p:cNvPr id="14" name="TextBox 13"/>
          <p:cNvSpPr txBox="1"/>
          <p:nvPr/>
        </p:nvSpPr>
        <p:spPr>
          <a:xfrm>
            <a:off x="4462272" y="3886200"/>
            <a:ext cx="3154680" cy="365760"/>
          </a:xfrm>
          <a:prstGeom prst="rect">
            <a:avLst/>
          </a:prstGeom>
          <a:noFill/>
        </p:spPr>
        <p:txBody>
          <a:bodyPr wrap="square" lIns="0" rIns="0" tIns="0" bIns="0"/>
          <a:lstStyle/>
          <a:p>
            <a:pPr algn="l"/>
            <a:r>
              <a:rPr sz="1600" b="1">
                <a:solidFill>
                  <a:srgbClr val="C2412D"/>
                </a:solidFill>
                <a:latin typeface="Calibri"/>
                <a:ea typeface="Calibri"/>
                <a:cs typeface="Calibri"/>
              </a:rPr>
              <a:t>Иванов Н.С.</a:t>
            </a:r>
          </a:p>
        </p:txBody>
      </p:sp>
      <p:sp>
        <p:nvSpPr>
          <p:cNvPr id="15" name="Rounded Rectangle 14"/>
          <p:cNvSpPr/>
          <p:nvPr/>
        </p:nvSpPr>
        <p:spPr>
          <a:xfrm>
            <a:off x="8028432" y="1691640"/>
            <a:ext cx="3611880" cy="288036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7032" y="1874519"/>
            <a:ext cx="3154680" cy="457200"/>
          </a:xfrm>
          <a:prstGeom prst="rect">
            <a:avLst/>
          </a:prstGeom>
          <a:noFill/>
        </p:spPr>
        <p:txBody>
          <a:bodyPr wrap="square" lIns="0" rIns="0" tIns="0" bIns="0"/>
          <a:lstStyle/>
          <a:p>
            <a:pPr algn="l"/>
            <a:r>
              <a:rPr sz="2400" b="1">
                <a:solidFill>
                  <a:srgbClr val="1C1915"/>
                </a:solidFill>
                <a:latin typeface="Calibri"/>
                <a:ea typeface="Calibri"/>
                <a:cs typeface="Calibri"/>
              </a:rPr>
              <a:t>База</a:t>
            </a:r>
          </a:p>
        </p:txBody>
      </p:sp>
      <p:sp>
        <p:nvSpPr>
          <p:cNvPr id="17" name="TextBox 16"/>
          <p:cNvSpPr txBox="1"/>
          <p:nvPr/>
        </p:nvSpPr>
        <p:spPr>
          <a:xfrm>
            <a:off x="8257032" y="2423160"/>
            <a:ext cx="3154680" cy="1234440"/>
          </a:xfrm>
          <a:prstGeom prst="rect">
            <a:avLst/>
          </a:prstGeom>
          <a:noFill/>
        </p:spPr>
        <p:txBody>
          <a:bodyPr wrap="square" lIns="0" rIns="0" tIns="0" bIns="0"/>
          <a:lstStyle/>
          <a:p>
            <a:pPr algn="l"/>
            <a:r>
              <a:rPr sz="1600" b="0">
                <a:solidFill>
                  <a:srgbClr val="5E564A"/>
                </a:solidFill>
                <a:latin typeface="Calibri"/>
                <a:ea typeface="Calibri"/>
                <a:cs typeface="Calibri"/>
              </a:rPr>
              <a:t>Файл SQLite: люди, игры, отзывы. Создаётся при запуске.</a:t>
            </a:r>
          </a:p>
        </p:txBody>
      </p:sp>
      <p:sp>
        <p:nvSpPr>
          <p:cNvPr id="18" name="TextBox 17"/>
          <p:cNvSpPr txBox="1"/>
          <p:nvPr/>
        </p:nvSpPr>
        <p:spPr>
          <a:xfrm>
            <a:off x="8257032" y="3886200"/>
            <a:ext cx="3154680" cy="365760"/>
          </a:xfrm>
          <a:prstGeom prst="rect">
            <a:avLst/>
          </a:prstGeom>
          <a:noFill/>
        </p:spPr>
        <p:txBody>
          <a:bodyPr wrap="square" lIns="0" rIns="0" tIns="0" bIns="0"/>
          <a:lstStyle/>
          <a:p>
            <a:pPr algn="l"/>
            <a:r>
              <a:rPr sz="1600" b="1">
                <a:solidFill>
                  <a:srgbClr val="C2412D"/>
                </a:solidFill>
                <a:latin typeface="Calibri"/>
                <a:ea typeface="Calibri"/>
                <a:cs typeface="Calibri"/>
              </a:rPr>
              <a:t>Иванов Н.С.</a:t>
            </a:r>
          </a:p>
        </p:txBody>
      </p:sp>
      <p:sp>
        <p:nvSpPr>
          <p:cNvPr id="19" name="Rounded Rectangle 18"/>
          <p:cNvSpPr/>
          <p:nvPr/>
        </p:nvSpPr>
        <p:spPr>
          <a:xfrm>
            <a:off x="438912" y="4754880"/>
            <a:ext cx="11292840" cy="1463040"/>
          </a:xfrm>
          <a:prstGeom prst="roundRect">
            <a:avLst>
              <a:gd name="adj" fmla="val 8000"/>
            </a:avLst>
          </a:prstGeom>
          <a:solidFill>
            <a:srgbClr val="1C19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3232" y="4937760"/>
            <a:ext cx="10789920" cy="320040"/>
          </a:xfrm>
          <a:prstGeom prst="rect">
            <a:avLst/>
          </a:prstGeom>
          <a:noFill/>
        </p:spPr>
        <p:txBody>
          <a:bodyPr wrap="square" lIns="0" rIns="0" tIns="0" bIns="0"/>
          <a:lstStyle/>
          <a:p>
            <a:pPr algn="l"/>
            <a:r>
              <a:rPr sz="1600" b="1">
                <a:solidFill>
                  <a:srgbClr val="E7C2B8"/>
                </a:solidFill>
                <a:latin typeface="Calibri"/>
                <a:ea typeface="Calibri"/>
                <a:cs typeface="Calibri"/>
              </a:rPr>
              <a:t>Откуда берётся новая игра</a:t>
            </a:r>
          </a:p>
        </p:txBody>
      </p:sp>
      <p:sp>
        <p:nvSpPr>
          <p:cNvPr id="21" name="TextBox 20"/>
          <p:cNvSpPr txBox="1"/>
          <p:nvPr/>
        </p:nvSpPr>
        <p:spPr>
          <a:xfrm>
            <a:off x="713232" y="5349240"/>
            <a:ext cx="10789920" cy="640080"/>
          </a:xfrm>
          <a:prstGeom prst="rect">
            <a:avLst/>
          </a:prstGeom>
          <a:noFill/>
        </p:spPr>
        <p:txBody>
          <a:bodyPr wrap="square" lIns="0" rIns="0" tIns="0" bIns="0"/>
          <a:lstStyle/>
          <a:p>
            <a:pPr algn="l"/>
            <a:r>
              <a:rPr sz="1800" b="0">
                <a:solidFill>
                  <a:srgbClr val="FFFCF6"/>
                </a:solidFill>
                <a:latin typeface="Calibri"/>
                <a:ea typeface="Calibri"/>
                <a:cs typeface="Calibri"/>
              </a:rPr>
              <a:t>Карточка — из RAWG или из запасного списка. Обложка — со страницы магазина, если игры там нет, с сайта студии.</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91440" cy="6858000"/>
          </a:xfrm>
          <a:prstGeom prst="rect">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6510528"/>
            <a:ext cx="7315200" cy="256032"/>
          </a:xfrm>
          <a:prstGeom prst="rect">
            <a:avLst/>
          </a:prstGeom>
          <a:noFill/>
        </p:spPr>
        <p:txBody>
          <a:bodyPr wrap="square" lIns="0" rIns="0" tIns="0" bIns="0"/>
          <a:lstStyle/>
          <a:p>
            <a:pPr algn="l"/>
            <a:r>
              <a:rPr sz="1300" b="0">
                <a:solidFill>
                  <a:srgbClr val="5E564A"/>
                </a:solidFill>
                <a:latin typeface="Calibri"/>
                <a:ea typeface="Calibri"/>
                <a:cs typeface="Calibri"/>
              </a:rPr>
              <a:t>Полка  ·  отзывы на игры</a:t>
            </a:r>
          </a:p>
        </p:txBody>
      </p:sp>
      <p:sp>
        <p:nvSpPr>
          <p:cNvPr id="4" name="TextBox 3"/>
          <p:cNvSpPr txBox="1"/>
          <p:nvPr/>
        </p:nvSpPr>
        <p:spPr>
          <a:xfrm>
            <a:off x="9692640" y="6510528"/>
            <a:ext cx="2103120" cy="256032"/>
          </a:xfrm>
          <a:prstGeom prst="rect">
            <a:avLst/>
          </a:prstGeom>
          <a:noFill/>
        </p:spPr>
        <p:txBody>
          <a:bodyPr wrap="square" lIns="0" rIns="0" tIns="0" bIns="0"/>
          <a:lstStyle/>
          <a:p>
            <a:pPr algn="r"/>
            <a:r>
              <a:rPr sz="1300" b="0">
                <a:solidFill>
                  <a:srgbClr val="5E564A"/>
                </a:solidFill>
                <a:latin typeface="Calibri"/>
                <a:ea typeface="Calibri"/>
                <a:cs typeface="Calibri"/>
              </a:rPr>
              <a:t>5  /  14</a:t>
            </a:r>
          </a:p>
        </p:txBody>
      </p:sp>
      <p:sp>
        <p:nvSpPr>
          <p:cNvPr id="5" name="TextBox 4"/>
          <p:cNvSpPr txBox="1"/>
          <p:nvPr/>
        </p:nvSpPr>
        <p:spPr>
          <a:xfrm>
            <a:off x="438912" y="256032"/>
            <a:ext cx="10972800" cy="256032"/>
          </a:xfrm>
          <a:prstGeom prst="rect">
            <a:avLst/>
          </a:prstGeom>
          <a:noFill/>
        </p:spPr>
        <p:txBody>
          <a:bodyPr wrap="square" lIns="0" rIns="0" tIns="0" bIns="0"/>
          <a:lstStyle/>
          <a:p>
            <a:pPr algn="l"/>
            <a:r>
              <a:rPr sz="1300" b="1">
                <a:solidFill>
                  <a:srgbClr val="C2412D"/>
                </a:solidFill>
                <a:latin typeface="Calibri"/>
                <a:ea typeface="Calibri"/>
                <a:cs typeface="Calibri"/>
              </a:rPr>
              <a:t>ТЕХНОЛОГИИ</a:t>
            </a:r>
          </a:p>
        </p:txBody>
      </p:sp>
      <p:sp>
        <p:nvSpPr>
          <p:cNvPr id="6" name="TextBox 5"/>
          <p:cNvSpPr txBox="1"/>
          <p:nvPr/>
        </p:nvSpPr>
        <p:spPr>
          <a:xfrm>
            <a:off x="438912" y="530352"/>
            <a:ext cx="11155680" cy="777240"/>
          </a:xfrm>
          <a:prstGeom prst="rect">
            <a:avLst/>
          </a:prstGeom>
          <a:noFill/>
        </p:spPr>
        <p:txBody>
          <a:bodyPr wrap="square" lIns="0" rIns="0" tIns="0" bIns="0"/>
          <a:lstStyle/>
          <a:p>
            <a:pPr algn="l"/>
            <a:r>
              <a:rPr sz="3200" b="1">
                <a:solidFill>
                  <a:srgbClr val="1C1915"/>
                </a:solidFill>
                <a:latin typeface="Calibri"/>
                <a:ea typeface="Calibri"/>
                <a:cs typeface="Calibri"/>
              </a:rPr>
              <a:t>Чем сделано</a:t>
            </a:r>
          </a:p>
        </p:txBody>
      </p:sp>
      <p:sp>
        <p:nvSpPr>
          <p:cNvPr id="7" name="Rounded Rectangle 6"/>
          <p:cNvSpPr/>
          <p:nvPr/>
        </p:nvSpPr>
        <p:spPr>
          <a:xfrm>
            <a:off x="438912" y="1737360"/>
            <a:ext cx="3611880" cy="123444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 y="2084831"/>
            <a:ext cx="3611880" cy="502920"/>
          </a:xfrm>
          <a:prstGeom prst="rect">
            <a:avLst/>
          </a:prstGeom>
          <a:noFill/>
        </p:spPr>
        <p:txBody>
          <a:bodyPr wrap="square" lIns="0" rIns="0" tIns="0" bIns="0"/>
          <a:lstStyle/>
          <a:p>
            <a:pPr algn="ctr"/>
            <a:r>
              <a:rPr sz="2600" b="1">
                <a:solidFill>
                  <a:srgbClr val="1C1915"/>
                </a:solidFill>
                <a:latin typeface="Calibri"/>
                <a:ea typeface="Calibri"/>
                <a:cs typeface="Calibri"/>
              </a:rPr>
              <a:t>Next.js</a:t>
            </a:r>
          </a:p>
        </p:txBody>
      </p:sp>
      <p:sp>
        <p:nvSpPr>
          <p:cNvPr id="9" name="Rounded Rectangle 8"/>
          <p:cNvSpPr/>
          <p:nvPr/>
        </p:nvSpPr>
        <p:spPr>
          <a:xfrm>
            <a:off x="4279392" y="1737360"/>
            <a:ext cx="3611880" cy="123444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79392" y="2084831"/>
            <a:ext cx="3611880" cy="502920"/>
          </a:xfrm>
          <a:prstGeom prst="rect">
            <a:avLst/>
          </a:prstGeom>
          <a:noFill/>
        </p:spPr>
        <p:txBody>
          <a:bodyPr wrap="square" lIns="0" rIns="0" tIns="0" bIns="0"/>
          <a:lstStyle/>
          <a:p>
            <a:pPr algn="ctr"/>
            <a:r>
              <a:rPr sz="2600" b="1">
                <a:solidFill>
                  <a:srgbClr val="1C1915"/>
                </a:solidFill>
                <a:latin typeface="Calibri"/>
                <a:ea typeface="Calibri"/>
                <a:cs typeface="Calibri"/>
              </a:rPr>
              <a:t>React</a:t>
            </a:r>
          </a:p>
        </p:txBody>
      </p:sp>
      <p:sp>
        <p:nvSpPr>
          <p:cNvPr id="11" name="Rounded Rectangle 10"/>
          <p:cNvSpPr/>
          <p:nvPr/>
        </p:nvSpPr>
        <p:spPr>
          <a:xfrm>
            <a:off x="8119872" y="1737360"/>
            <a:ext cx="3611880" cy="123444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19872" y="2084831"/>
            <a:ext cx="3611880" cy="502920"/>
          </a:xfrm>
          <a:prstGeom prst="rect">
            <a:avLst/>
          </a:prstGeom>
          <a:noFill/>
        </p:spPr>
        <p:txBody>
          <a:bodyPr wrap="square" lIns="0" rIns="0" tIns="0" bIns="0"/>
          <a:lstStyle/>
          <a:p>
            <a:pPr algn="ctr"/>
            <a:r>
              <a:rPr sz="2600" b="1">
                <a:solidFill>
                  <a:srgbClr val="1C1915"/>
                </a:solidFill>
                <a:latin typeface="Calibri"/>
                <a:ea typeface="Calibri"/>
                <a:cs typeface="Calibri"/>
              </a:rPr>
              <a:t>TypeScript</a:t>
            </a:r>
          </a:p>
        </p:txBody>
      </p:sp>
      <p:sp>
        <p:nvSpPr>
          <p:cNvPr id="13" name="Rounded Rectangle 12"/>
          <p:cNvSpPr/>
          <p:nvPr/>
        </p:nvSpPr>
        <p:spPr>
          <a:xfrm>
            <a:off x="438912" y="3154680"/>
            <a:ext cx="3611880" cy="123444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3502152"/>
            <a:ext cx="3611880" cy="502920"/>
          </a:xfrm>
          <a:prstGeom prst="rect">
            <a:avLst/>
          </a:prstGeom>
          <a:noFill/>
        </p:spPr>
        <p:txBody>
          <a:bodyPr wrap="square" lIns="0" rIns="0" tIns="0" bIns="0"/>
          <a:lstStyle/>
          <a:p>
            <a:pPr algn="ctr"/>
            <a:r>
              <a:rPr sz="2600" b="1">
                <a:solidFill>
                  <a:srgbClr val="1C1915"/>
                </a:solidFill>
                <a:latin typeface="Calibri"/>
                <a:ea typeface="Calibri"/>
                <a:cs typeface="Calibri"/>
              </a:rPr>
              <a:t>Tailwind</a:t>
            </a:r>
          </a:p>
        </p:txBody>
      </p:sp>
      <p:sp>
        <p:nvSpPr>
          <p:cNvPr id="15" name="Rounded Rectangle 14"/>
          <p:cNvSpPr/>
          <p:nvPr/>
        </p:nvSpPr>
        <p:spPr>
          <a:xfrm>
            <a:off x="4279392" y="3154680"/>
            <a:ext cx="3611880" cy="123444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79392" y="3502152"/>
            <a:ext cx="3611880" cy="502920"/>
          </a:xfrm>
          <a:prstGeom prst="rect">
            <a:avLst/>
          </a:prstGeom>
          <a:noFill/>
        </p:spPr>
        <p:txBody>
          <a:bodyPr wrap="square" lIns="0" rIns="0" tIns="0" bIns="0"/>
          <a:lstStyle/>
          <a:p>
            <a:pPr algn="ctr"/>
            <a:r>
              <a:rPr sz="2600" b="1">
                <a:solidFill>
                  <a:srgbClr val="1C1915"/>
                </a:solidFill>
                <a:latin typeface="Calibri"/>
                <a:ea typeface="Calibri"/>
                <a:cs typeface="Calibri"/>
              </a:rPr>
              <a:t>SQLite</a:t>
            </a:r>
          </a:p>
        </p:txBody>
      </p:sp>
      <p:sp>
        <p:nvSpPr>
          <p:cNvPr id="17" name="Rounded Rectangle 16"/>
          <p:cNvSpPr/>
          <p:nvPr/>
        </p:nvSpPr>
        <p:spPr>
          <a:xfrm>
            <a:off x="8119872" y="3154680"/>
            <a:ext cx="3611880" cy="123444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19872" y="3502152"/>
            <a:ext cx="3611880" cy="502920"/>
          </a:xfrm>
          <a:prstGeom prst="rect">
            <a:avLst/>
          </a:prstGeom>
          <a:noFill/>
        </p:spPr>
        <p:txBody>
          <a:bodyPr wrap="square" lIns="0" rIns="0" tIns="0" bIns="0"/>
          <a:lstStyle/>
          <a:p>
            <a:pPr algn="ctr"/>
            <a:r>
              <a:rPr sz="2600" b="1">
                <a:solidFill>
                  <a:srgbClr val="1C1915"/>
                </a:solidFill>
                <a:latin typeface="Calibri"/>
                <a:ea typeface="Calibri"/>
                <a:cs typeface="Calibri"/>
              </a:rPr>
              <a:t>Node.js</a:t>
            </a:r>
          </a:p>
        </p:txBody>
      </p:sp>
      <p:sp>
        <p:nvSpPr>
          <p:cNvPr id="19" name="TextBox 18"/>
          <p:cNvSpPr txBox="1"/>
          <p:nvPr/>
        </p:nvSpPr>
        <p:spPr>
          <a:xfrm>
            <a:off x="438912" y="4754880"/>
            <a:ext cx="11247120" cy="640080"/>
          </a:xfrm>
          <a:prstGeom prst="rect">
            <a:avLst/>
          </a:prstGeom>
          <a:noFill/>
        </p:spPr>
        <p:txBody>
          <a:bodyPr wrap="square" lIns="0" rIns="0" tIns="0" bIns="0"/>
          <a:lstStyle/>
          <a:p>
            <a:pPr algn="l"/>
            <a:r>
              <a:rPr sz="2000" b="0">
                <a:solidFill>
                  <a:srgbClr val="5E564A"/>
                </a:solidFill>
                <a:latin typeface="Calibri"/>
                <a:ea typeface="Calibri"/>
                <a:cs typeface="Calibri"/>
              </a:rPr>
              <a:t>Это код сайта. Страницы, сервер, базу и проверку собрал Иванов Н.С.</a:t>
            </a:r>
          </a:p>
        </p:txBody>
      </p:sp>
      <p:sp>
        <p:nvSpPr>
          <p:cNvPr id="20" name="TextBox 19"/>
          <p:cNvSpPr txBox="1"/>
          <p:nvPr/>
        </p:nvSpPr>
        <p:spPr>
          <a:xfrm>
            <a:off x="438912" y="5486400"/>
            <a:ext cx="11247120" cy="548640"/>
          </a:xfrm>
          <a:prstGeom prst="rect">
            <a:avLst/>
          </a:prstGeom>
          <a:noFill/>
        </p:spPr>
        <p:txBody>
          <a:bodyPr wrap="square" lIns="0" rIns="0" tIns="0" bIns="0"/>
          <a:lstStyle/>
          <a:p>
            <a:pPr algn="l"/>
            <a:r>
              <a:rPr sz="2000" b="0">
                <a:solidFill>
                  <a:srgbClr val="1C1915"/>
                </a:solidFill>
                <a:latin typeface="Calibri"/>
                <a:ea typeface="Calibri"/>
                <a:cs typeface="Calibri"/>
              </a:rPr>
              <a:t>Проверка — команда npm test, восемь автотестов.</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91440" cy="6858000"/>
          </a:xfrm>
          <a:prstGeom prst="rect">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6510528"/>
            <a:ext cx="7315200" cy="256032"/>
          </a:xfrm>
          <a:prstGeom prst="rect">
            <a:avLst/>
          </a:prstGeom>
          <a:noFill/>
        </p:spPr>
        <p:txBody>
          <a:bodyPr wrap="square" lIns="0" rIns="0" tIns="0" bIns="0"/>
          <a:lstStyle/>
          <a:p>
            <a:pPr algn="l"/>
            <a:r>
              <a:rPr sz="1300" b="0">
                <a:solidFill>
                  <a:srgbClr val="5E564A"/>
                </a:solidFill>
                <a:latin typeface="Calibri"/>
                <a:ea typeface="Calibri"/>
                <a:cs typeface="Calibri"/>
              </a:rPr>
              <a:t>Полка  ·  отзывы на игры</a:t>
            </a:r>
          </a:p>
        </p:txBody>
      </p:sp>
      <p:sp>
        <p:nvSpPr>
          <p:cNvPr id="4" name="TextBox 3"/>
          <p:cNvSpPr txBox="1"/>
          <p:nvPr/>
        </p:nvSpPr>
        <p:spPr>
          <a:xfrm>
            <a:off x="9692640" y="6510528"/>
            <a:ext cx="2103120" cy="256032"/>
          </a:xfrm>
          <a:prstGeom prst="rect">
            <a:avLst/>
          </a:prstGeom>
          <a:noFill/>
        </p:spPr>
        <p:txBody>
          <a:bodyPr wrap="square" lIns="0" rIns="0" tIns="0" bIns="0"/>
          <a:lstStyle/>
          <a:p>
            <a:pPr algn="r"/>
            <a:r>
              <a:rPr sz="1300" b="0">
                <a:solidFill>
                  <a:srgbClr val="5E564A"/>
                </a:solidFill>
                <a:latin typeface="Calibri"/>
                <a:ea typeface="Calibri"/>
                <a:cs typeface="Calibri"/>
              </a:rPr>
              <a:t>6  /  14</a:t>
            </a:r>
          </a:p>
        </p:txBody>
      </p:sp>
      <p:sp>
        <p:nvSpPr>
          <p:cNvPr id="5" name="TextBox 4"/>
          <p:cNvSpPr txBox="1"/>
          <p:nvPr/>
        </p:nvSpPr>
        <p:spPr>
          <a:xfrm>
            <a:off x="438912" y="256032"/>
            <a:ext cx="10972800" cy="256032"/>
          </a:xfrm>
          <a:prstGeom prst="rect">
            <a:avLst/>
          </a:prstGeom>
          <a:noFill/>
        </p:spPr>
        <p:txBody>
          <a:bodyPr wrap="square" lIns="0" rIns="0" tIns="0" bIns="0"/>
          <a:lstStyle/>
          <a:p>
            <a:pPr algn="l"/>
            <a:r>
              <a:rPr sz="1300" b="1">
                <a:solidFill>
                  <a:srgbClr val="C2412D"/>
                </a:solidFill>
                <a:latin typeface="Calibri"/>
                <a:ea typeface="Calibri"/>
                <a:cs typeface="Calibri"/>
              </a:rPr>
              <a:t>РЫНОК</a:t>
            </a:r>
          </a:p>
        </p:txBody>
      </p:sp>
      <p:sp>
        <p:nvSpPr>
          <p:cNvPr id="6" name="TextBox 5"/>
          <p:cNvSpPr txBox="1"/>
          <p:nvPr/>
        </p:nvSpPr>
        <p:spPr>
          <a:xfrm>
            <a:off x="438912" y="475488"/>
            <a:ext cx="11155680" cy="777240"/>
          </a:xfrm>
          <a:prstGeom prst="rect">
            <a:avLst/>
          </a:prstGeom>
          <a:noFill/>
        </p:spPr>
        <p:txBody>
          <a:bodyPr wrap="square" lIns="0" rIns="0" tIns="0" bIns="0"/>
          <a:lstStyle/>
          <a:p>
            <a:pPr algn="l"/>
            <a:r>
              <a:rPr sz="3200" b="1">
                <a:solidFill>
                  <a:srgbClr val="1C1915"/>
                </a:solidFill>
                <a:latin typeface="Calibri"/>
                <a:ea typeface="Calibri"/>
                <a:cs typeface="Calibri"/>
              </a:rPr>
              <a:t>Для кого и чем отличается</a:t>
            </a:r>
          </a:p>
        </p:txBody>
      </p:sp>
      <p:sp>
        <p:nvSpPr>
          <p:cNvPr id="7" name="TextBox 6"/>
          <p:cNvSpPr txBox="1"/>
          <p:nvPr/>
        </p:nvSpPr>
        <p:spPr>
          <a:xfrm>
            <a:off x="438912" y="1371600"/>
            <a:ext cx="11247120" cy="502920"/>
          </a:xfrm>
          <a:prstGeom prst="rect">
            <a:avLst/>
          </a:prstGeom>
          <a:noFill/>
        </p:spPr>
        <p:txBody>
          <a:bodyPr wrap="square" lIns="0" rIns="0" tIns="0" bIns="0"/>
          <a:lstStyle/>
          <a:p>
            <a:pPr algn="l"/>
            <a:r>
              <a:rPr sz="1800" b="0">
                <a:solidFill>
                  <a:srgbClr val="1C1915"/>
                </a:solidFill>
                <a:latin typeface="Calibri"/>
                <a:ea typeface="Calibri"/>
                <a:cs typeface="Calibri"/>
              </a:rPr>
              <a:t>Аудитория: игрок, который вечером выбирает игру. Сначала свои, потом любой с аккаунтом.</a:t>
            </a:r>
          </a:p>
        </p:txBody>
      </p:sp>
      <p:sp>
        <p:nvSpPr>
          <p:cNvPr id="8" name="Rounded Rectangle 7"/>
          <p:cNvSpPr/>
          <p:nvPr/>
        </p:nvSpPr>
        <p:spPr>
          <a:xfrm>
            <a:off x="438912" y="2011680"/>
            <a:ext cx="11292840" cy="804672"/>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194560"/>
            <a:ext cx="2926080" cy="438912"/>
          </a:xfrm>
          <a:prstGeom prst="rect">
            <a:avLst/>
          </a:prstGeom>
          <a:noFill/>
        </p:spPr>
        <p:txBody>
          <a:bodyPr wrap="square" lIns="0" rIns="0" tIns="0" bIns="0"/>
          <a:lstStyle/>
          <a:p>
            <a:pPr algn="l"/>
            <a:r>
              <a:rPr sz="2200" b="1">
                <a:solidFill>
                  <a:srgbClr val="1C1915"/>
                </a:solidFill>
                <a:latin typeface="Calibri"/>
                <a:ea typeface="Calibri"/>
                <a:cs typeface="Calibri"/>
              </a:rPr>
              <a:t>Steam</a:t>
            </a:r>
          </a:p>
        </p:txBody>
      </p:sp>
      <p:sp>
        <p:nvSpPr>
          <p:cNvPr id="10" name="TextBox 9"/>
          <p:cNvSpPr txBox="1"/>
          <p:nvPr/>
        </p:nvSpPr>
        <p:spPr>
          <a:xfrm>
            <a:off x="3749039" y="2194560"/>
            <a:ext cx="7589520" cy="438912"/>
          </a:xfrm>
          <a:prstGeom prst="rect">
            <a:avLst/>
          </a:prstGeom>
          <a:noFill/>
        </p:spPr>
        <p:txBody>
          <a:bodyPr wrap="square" lIns="0" rIns="0" tIns="0" bIns="0"/>
          <a:lstStyle/>
          <a:p>
            <a:pPr algn="l"/>
            <a:r>
              <a:rPr sz="2000" b="0">
                <a:solidFill>
                  <a:srgbClr val="5E564A"/>
                </a:solidFill>
                <a:latin typeface="Calibri"/>
                <a:ea typeface="Calibri"/>
                <a:cs typeface="Calibri"/>
              </a:rPr>
              <a:t>Магазин и толпа оценок</a:t>
            </a:r>
          </a:p>
        </p:txBody>
      </p:sp>
      <p:sp>
        <p:nvSpPr>
          <p:cNvPr id="11" name="Rounded Rectangle 10"/>
          <p:cNvSpPr/>
          <p:nvPr/>
        </p:nvSpPr>
        <p:spPr>
          <a:xfrm>
            <a:off x="438912" y="2926080"/>
            <a:ext cx="11292840" cy="804672"/>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108960"/>
            <a:ext cx="2926080" cy="438912"/>
          </a:xfrm>
          <a:prstGeom prst="rect">
            <a:avLst/>
          </a:prstGeom>
          <a:noFill/>
        </p:spPr>
        <p:txBody>
          <a:bodyPr wrap="square" lIns="0" rIns="0" tIns="0" bIns="0"/>
          <a:lstStyle/>
          <a:p>
            <a:pPr algn="l"/>
            <a:r>
              <a:rPr sz="2200" b="1">
                <a:solidFill>
                  <a:srgbClr val="1C1915"/>
                </a:solidFill>
                <a:latin typeface="Calibri"/>
                <a:ea typeface="Calibri"/>
                <a:cs typeface="Calibri"/>
              </a:rPr>
              <a:t>Metacritic</a:t>
            </a:r>
          </a:p>
        </p:txBody>
      </p:sp>
      <p:sp>
        <p:nvSpPr>
          <p:cNvPr id="13" name="TextBox 12"/>
          <p:cNvSpPr txBox="1"/>
          <p:nvPr/>
        </p:nvSpPr>
        <p:spPr>
          <a:xfrm>
            <a:off x="3749039" y="3108960"/>
            <a:ext cx="7589520" cy="438912"/>
          </a:xfrm>
          <a:prstGeom prst="rect">
            <a:avLst/>
          </a:prstGeom>
          <a:noFill/>
        </p:spPr>
        <p:txBody>
          <a:bodyPr wrap="square" lIns="0" rIns="0" tIns="0" bIns="0"/>
          <a:lstStyle/>
          <a:p>
            <a:pPr algn="l"/>
            <a:r>
              <a:rPr sz="2000" b="0">
                <a:solidFill>
                  <a:srgbClr val="5E564A"/>
                </a:solidFill>
                <a:latin typeface="Calibri"/>
                <a:ea typeface="Calibri"/>
                <a:cs typeface="Calibri"/>
              </a:rPr>
              <a:t>Критики и игроки в одной цифре</a:t>
            </a:r>
          </a:p>
        </p:txBody>
      </p:sp>
      <p:sp>
        <p:nvSpPr>
          <p:cNvPr id="14" name="Rounded Rectangle 13"/>
          <p:cNvSpPr/>
          <p:nvPr/>
        </p:nvSpPr>
        <p:spPr>
          <a:xfrm>
            <a:off x="438912" y="3840480"/>
            <a:ext cx="11292840" cy="804672"/>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023360"/>
            <a:ext cx="2926080" cy="438912"/>
          </a:xfrm>
          <a:prstGeom prst="rect">
            <a:avLst/>
          </a:prstGeom>
          <a:noFill/>
        </p:spPr>
        <p:txBody>
          <a:bodyPr wrap="square" lIns="0" rIns="0" tIns="0" bIns="0"/>
          <a:lstStyle/>
          <a:p>
            <a:pPr algn="l"/>
            <a:r>
              <a:rPr sz="2200" b="1">
                <a:solidFill>
                  <a:srgbClr val="1C1915"/>
                </a:solidFill>
                <a:latin typeface="Calibri"/>
                <a:ea typeface="Calibri"/>
                <a:cs typeface="Calibri"/>
              </a:rPr>
              <a:t>RAWG</a:t>
            </a:r>
          </a:p>
        </p:txBody>
      </p:sp>
      <p:sp>
        <p:nvSpPr>
          <p:cNvPr id="16" name="TextBox 15"/>
          <p:cNvSpPr txBox="1"/>
          <p:nvPr/>
        </p:nvSpPr>
        <p:spPr>
          <a:xfrm>
            <a:off x="3749039" y="4023360"/>
            <a:ext cx="7589520" cy="438912"/>
          </a:xfrm>
          <a:prstGeom prst="rect">
            <a:avLst/>
          </a:prstGeom>
          <a:noFill/>
        </p:spPr>
        <p:txBody>
          <a:bodyPr wrap="square" lIns="0" rIns="0" tIns="0" bIns="0"/>
          <a:lstStyle/>
          <a:p>
            <a:pPr algn="l"/>
            <a:r>
              <a:rPr sz="2000" b="0">
                <a:solidFill>
                  <a:srgbClr val="5E564A"/>
                </a:solidFill>
                <a:latin typeface="Calibri"/>
                <a:ea typeface="Calibri"/>
                <a:cs typeface="Calibri"/>
              </a:rPr>
              <a:t>База игр и картинки</a:t>
            </a:r>
          </a:p>
        </p:txBody>
      </p:sp>
      <p:sp>
        <p:nvSpPr>
          <p:cNvPr id="17" name="Rounded Rectangle 16"/>
          <p:cNvSpPr/>
          <p:nvPr/>
        </p:nvSpPr>
        <p:spPr>
          <a:xfrm>
            <a:off x="438912" y="4754880"/>
            <a:ext cx="11292840" cy="804672"/>
          </a:xfrm>
          <a:prstGeom prst="roundRect">
            <a:avLst>
              <a:gd name="adj" fmla="val 8000"/>
            </a:avLst>
          </a:prstGeom>
          <a:solidFill>
            <a:srgbClr val="1C19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4937760"/>
            <a:ext cx="2926080" cy="438912"/>
          </a:xfrm>
          <a:prstGeom prst="rect">
            <a:avLst/>
          </a:prstGeom>
          <a:noFill/>
        </p:spPr>
        <p:txBody>
          <a:bodyPr wrap="square" lIns="0" rIns="0" tIns="0" bIns="0"/>
          <a:lstStyle/>
          <a:p>
            <a:pPr algn="l"/>
            <a:r>
              <a:rPr sz="2200" b="1">
                <a:solidFill>
                  <a:srgbClr val="FFFCF6"/>
                </a:solidFill>
                <a:latin typeface="Calibri"/>
                <a:ea typeface="Calibri"/>
                <a:cs typeface="Calibri"/>
              </a:rPr>
              <a:t>Полка</a:t>
            </a:r>
          </a:p>
        </p:txBody>
      </p:sp>
      <p:sp>
        <p:nvSpPr>
          <p:cNvPr id="19" name="TextBox 18"/>
          <p:cNvSpPr txBox="1"/>
          <p:nvPr/>
        </p:nvSpPr>
        <p:spPr>
          <a:xfrm>
            <a:off x="3749039" y="4937760"/>
            <a:ext cx="7589520" cy="438912"/>
          </a:xfrm>
          <a:prstGeom prst="rect">
            <a:avLst/>
          </a:prstGeom>
          <a:noFill/>
        </p:spPr>
        <p:txBody>
          <a:bodyPr wrap="square" lIns="0" rIns="0" tIns="0" bIns="0"/>
          <a:lstStyle/>
          <a:p>
            <a:pPr algn="l"/>
            <a:r>
              <a:rPr sz="2000" b="0">
                <a:solidFill>
                  <a:srgbClr val="E7D7C4"/>
                </a:solidFill>
                <a:latin typeface="Calibri"/>
                <a:ea typeface="Calibri"/>
                <a:cs typeface="Calibri"/>
              </a:rPr>
              <a:t>Имя автора и своя средняя. Игры не продаёт.</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91440" cy="6858000"/>
          </a:xfrm>
          <a:prstGeom prst="rect">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6510528"/>
            <a:ext cx="7315200" cy="256032"/>
          </a:xfrm>
          <a:prstGeom prst="rect">
            <a:avLst/>
          </a:prstGeom>
          <a:noFill/>
        </p:spPr>
        <p:txBody>
          <a:bodyPr wrap="square" lIns="0" rIns="0" tIns="0" bIns="0"/>
          <a:lstStyle/>
          <a:p>
            <a:pPr algn="l"/>
            <a:r>
              <a:rPr sz="1300" b="0">
                <a:solidFill>
                  <a:srgbClr val="5E564A"/>
                </a:solidFill>
                <a:latin typeface="Calibri"/>
                <a:ea typeface="Calibri"/>
                <a:cs typeface="Calibri"/>
              </a:rPr>
              <a:t>Полка  ·  отзывы на игры</a:t>
            </a:r>
          </a:p>
        </p:txBody>
      </p:sp>
      <p:sp>
        <p:nvSpPr>
          <p:cNvPr id="4" name="TextBox 3"/>
          <p:cNvSpPr txBox="1"/>
          <p:nvPr/>
        </p:nvSpPr>
        <p:spPr>
          <a:xfrm>
            <a:off x="9692640" y="6510528"/>
            <a:ext cx="2103120" cy="256032"/>
          </a:xfrm>
          <a:prstGeom prst="rect">
            <a:avLst/>
          </a:prstGeom>
          <a:noFill/>
        </p:spPr>
        <p:txBody>
          <a:bodyPr wrap="square" lIns="0" rIns="0" tIns="0" bIns="0"/>
          <a:lstStyle/>
          <a:p>
            <a:pPr algn="r"/>
            <a:r>
              <a:rPr sz="1300" b="0">
                <a:solidFill>
                  <a:srgbClr val="5E564A"/>
                </a:solidFill>
                <a:latin typeface="Calibri"/>
                <a:ea typeface="Calibri"/>
                <a:cs typeface="Calibri"/>
              </a:rPr>
              <a:t>7  /  14</a:t>
            </a:r>
          </a:p>
        </p:txBody>
      </p:sp>
      <p:sp>
        <p:nvSpPr>
          <p:cNvPr id="5" name="TextBox 4"/>
          <p:cNvSpPr txBox="1"/>
          <p:nvPr/>
        </p:nvSpPr>
        <p:spPr>
          <a:xfrm>
            <a:off x="438912" y="256032"/>
            <a:ext cx="10972800" cy="256032"/>
          </a:xfrm>
          <a:prstGeom prst="rect">
            <a:avLst/>
          </a:prstGeom>
          <a:noFill/>
        </p:spPr>
        <p:txBody>
          <a:bodyPr wrap="square" lIns="0" rIns="0" tIns="0" bIns="0"/>
          <a:lstStyle/>
          <a:p>
            <a:pPr algn="l"/>
            <a:r>
              <a:rPr sz="1300" b="1">
                <a:solidFill>
                  <a:srgbClr val="C2412D"/>
                </a:solidFill>
                <a:latin typeface="Calibri"/>
                <a:ea typeface="Calibri"/>
                <a:cs typeface="Calibri"/>
              </a:rPr>
              <a:t>БИЗНЕС-МОДЕЛЬ</a:t>
            </a:r>
          </a:p>
        </p:txBody>
      </p:sp>
      <p:sp>
        <p:nvSpPr>
          <p:cNvPr id="6" name="TextBox 5"/>
          <p:cNvSpPr txBox="1"/>
          <p:nvPr/>
        </p:nvSpPr>
        <p:spPr>
          <a:xfrm>
            <a:off x="438912" y="530352"/>
            <a:ext cx="11155680" cy="777240"/>
          </a:xfrm>
          <a:prstGeom prst="rect">
            <a:avLst/>
          </a:prstGeom>
          <a:noFill/>
        </p:spPr>
        <p:txBody>
          <a:bodyPr wrap="square" lIns="0" rIns="0" tIns="0" bIns="0"/>
          <a:lstStyle/>
          <a:p>
            <a:pPr algn="l"/>
            <a:r>
              <a:rPr sz="3200" b="1">
                <a:solidFill>
                  <a:srgbClr val="1C1915"/>
                </a:solidFill>
                <a:latin typeface="Calibri"/>
                <a:ea typeface="Calibri"/>
                <a:cs typeface="Calibri"/>
              </a:rPr>
              <a:t>Балл не продаётся</a:t>
            </a:r>
          </a:p>
        </p:txBody>
      </p:sp>
      <p:sp>
        <p:nvSpPr>
          <p:cNvPr id="7" name="Rounded Rectangle 6"/>
          <p:cNvSpPr/>
          <p:nvPr/>
        </p:nvSpPr>
        <p:spPr>
          <a:xfrm>
            <a:off x="438912" y="1783080"/>
            <a:ext cx="3611880" cy="416052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2057400"/>
            <a:ext cx="3108960" cy="365760"/>
          </a:xfrm>
          <a:prstGeom prst="rect">
            <a:avLst/>
          </a:prstGeom>
          <a:noFill/>
        </p:spPr>
        <p:txBody>
          <a:bodyPr wrap="square" lIns="0" rIns="0" tIns="0" bIns="0"/>
          <a:lstStyle/>
          <a:p>
            <a:pPr algn="l"/>
            <a:r>
              <a:rPr sz="1800" b="1">
                <a:solidFill>
                  <a:srgbClr val="C2412D"/>
                </a:solidFill>
                <a:latin typeface="Calibri"/>
                <a:ea typeface="Calibri"/>
                <a:cs typeface="Calibri"/>
              </a:rPr>
              <a:t>01</a:t>
            </a:r>
          </a:p>
        </p:txBody>
      </p:sp>
      <p:sp>
        <p:nvSpPr>
          <p:cNvPr id="9" name="TextBox 8"/>
          <p:cNvSpPr txBox="1"/>
          <p:nvPr/>
        </p:nvSpPr>
        <p:spPr>
          <a:xfrm>
            <a:off x="694944" y="2651760"/>
            <a:ext cx="3108960" cy="731520"/>
          </a:xfrm>
          <a:prstGeom prst="rect">
            <a:avLst/>
          </a:prstGeom>
          <a:noFill/>
        </p:spPr>
        <p:txBody>
          <a:bodyPr wrap="square" lIns="0" rIns="0" tIns="0" bIns="0"/>
          <a:lstStyle/>
          <a:p>
            <a:pPr algn="l"/>
            <a:r>
              <a:rPr sz="2600" b="1">
                <a:solidFill>
                  <a:srgbClr val="1C1915"/>
                </a:solidFill>
                <a:latin typeface="Calibri"/>
                <a:ea typeface="Calibri"/>
                <a:cs typeface="Calibri"/>
              </a:rPr>
              <a:t>Сейчас</a:t>
            </a:r>
          </a:p>
        </p:txBody>
      </p:sp>
      <p:sp>
        <p:nvSpPr>
          <p:cNvPr id="10" name="TextBox 9"/>
          <p:cNvSpPr txBox="1"/>
          <p:nvPr/>
        </p:nvSpPr>
        <p:spPr>
          <a:xfrm>
            <a:off x="694944" y="3657600"/>
            <a:ext cx="3108960" cy="1828800"/>
          </a:xfrm>
          <a:prstGeom prst="rect">
            <a:avLst/>
          </a:prstGeom>
          <a:noFill/>
        </p:spPr>
        <p:txBody>
          <a:bodyPr wrap="square" lIns="0" rIns="0" tIns="0" bIns="0"/>
          <a:lstStyle/>
          <a:p>
            <a:pPr algn="l"/>
            <a:r>
              <a:rPr sz="1800" b="0">
                <a:solidFill>
                  <a:srgbClr val="5E564A"/>
                </a:solidFill>
                <a:latin typeface="Calibri"/>
                <a:ea typeface="Calibri"/>
                <a:cs typeface="Calibri"/>
              </a:rPr>
              <a:t>Платежей нет. Это прототип для практикума, не касса.</a:t>
            </a:r>
          </a:p>
        </p:txBody>
      </p:sp>
      <p:sp>
        <p:nvSpPr>
          <p:cNvPr id="11" name="Rounded Rectangle 10"/>
          <p:cNvSpPr/>
          <p:nvPr/>
        </p:nvSpPr>
        <p:spPr>
          <a:xfrm>
            <a:off x="4233672" y="1783080"/>
            <a:ext cx="3611880" cy="416052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9704" y="2057400"/>
            <a:ext cx="3108960" cy="365760"/>
          </a:xfrm>
          <a:prstGeom prst="rect">
            <a:avLst/>
          </a:prstGeom>
          <a:noFill/>
        </p:spPr>
        <p:txBody>
          <a:bodyPr wrap="square" lIns="0" rIns="0" tIns="0" bIns="0"/>
          <a:lstStyle/>
          <a:p>
            <a:pPr algn="l"/>
            <a:r>
              <a:rPr sz="1800" b="1">
                <a:solidFill>
                  <a:srgbClr val="C2412D"/>
                </a:solidFill>
                <a:latin typeface="Calibri"/>
                <a:ea typeface="Calibri"/>
                <a:cs typeface="Calibri"/>
              </a:rPr>
              <a:t>02</a:t>
            </a:r>
          </a:p>
        </p:txBody>
      </p:sp>
      <p:sp>
        <p:nvSpPr>
          <p:cNvPr id="13" name="TextBox 12"/>
          <p:cNvSpPr txBox="1"/>
          <p:nvPr/>
        </p:nvSpPr>
        <p:spPr>
          <a:xfrm>
            <a:off x="4489704" y="2651760"/>
            <a:ext cx="3108960" cy="731520"/>
          </a:xfrm>
          <a:prstGeom prst="rect">
            <a:avLst/>
          </a:prstGeom>
          <a:noFill/>
        </p:spPr>
        <p:txBody>
          <a:bodyPr wrap="square" lIns="0" rIns="0" tIns="0" bIns="0"/>
          <a:lstStyle/>
          <a:p>
            <a:pPr algn="l"/>
            <a:r>
              <a:rPr sz="2600" b="1">
                <a:solidFill>
                  <a:srgbClr val="1C1915"/>
                </a:solidFill>
                <a:latin typeface="Calibri"/>
                <a:ea typeface="Calibri"/>
                <a:cs typeface="Calibri"/>
              </a:rPr>
              <a:t>Цена</a:t>
            </a:r>
          </a:p>
        </p:txBody>
      </p:sp>
      <p:sp>
        <p:nvSpPr>
          <p:cNvPr id="14" name="TextBox 13"/>
          <p:cNvSpPr txBox="1"/>
          <p:nvPr/>
        </p:nvSpPr>
        <p:spPr>
          <a:xfrm>
            <a:off x="4489704" y="3657600"/>
            <a:ext cx="3108960" cy="1828800"/>
          </a:xfrm>
          <a:prstGeom prst="rect">
            <a:avLst/>
          </a:prstGeom>
          <a:noFill/>
        </p:spPr>
        <p:txBody>
          <a:bodyPr wrap="square" lIns="0" rIns="0" tIns="0" bIns="0"/>
          <a:lstStyle/>
          <a:p>
            <a:pPr algn="l"/>
            <a:r>
              <a:rPr sz="1800" b="0">
                <a:solidFill>
                  <a:srgbClr val="5E564A"/>
                </a:solidFill>
                <a:latin typeface="Calibri"/>
                <a:ea typeface="Calibri"/>
                <a:cs typeface="Calibri"/>
              </a:rPr>
              <a:t>Чтение и отзыв ничего не стоят. Иначе оценку можно было бы купить.</a:t>
            </a:r>
          </a:p>
        </p:txBody>
      </p:sp>
      <p:sp>
        <p:nvSpPr>
          <p:cNvPr id="15" name="Rounded Rectangle 14"/>
          <p:cNvSpPr/>
          <p:nvPr/>
        </p:nvSpPr>
        <p:spPr>
          <a:xfrm>
            <a:off x="8028432" y="1783080"/>
            <a:ext cx="3611880" cy="416052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84464" y="2057400"/>
            <a:ext cx="3108960" cy="365760"/>
          </a:xfrm>
          <a:prstGeom prst="rect">
            <a:avLst/>
          </a:prstGeom>
          <a:noFill/>
        </p:spPr>
        <p:txBody>
          <a:bodyPr wrap="square" lIns="0" rIns="0" tIns="0" bIns="0"/>
          <a:lstStyle/>
          <a:p>
            <a:pPr algn="l"/>
            <a:r>
              <a:rPr sz="1800" b="1">
                <a:solidFill>
                  <a:srgbClr val="C2412D"/>
                </a:solidFill>
                <a:latin typeface="Calibri"/>
                <a:ea typeface="Calibri"/>
                <a:cs typeface="Calibri"/>
              </a:rPr>
              <a:t>03</a:t>
            </a:r>
          </a:p>
        </p:txBody>
      </p:sp>
      <p:sp>
        <p:nvSpPr>
          <p:cNvPr id="17" name="TextBox 16"/>
          <p:cNvSpPr txBox="1"/>
          <p:nvPr/>
        </p:nvSpPr>
        <p:spPr>
          <a:xfrm>
            <a:off x="8284464" y="2651760"/>
            <a:ext cx="3108960" cy="731520"/>
          </a:xfrm>
          <a:prstGeom prst="rect">
            <a:avLst/>
          </a:prstGeom>
          <a:noFill/>
        </p:spPr>
        <p:txBody>
          <a:bodyPr wrap="square" lIns="0" rIns="0" tIns="0" bIns="0"/>
          <a:lstStyle/>
          <a:p>
            <a:pPr algn="l"/>
            <a:r>
              <a:rPr sz="2600" b="1">
                <a:solidFill>
                  <a:srgbClr val="1C1915"/>
                </a:solidFill>
                <a:latin typeface="Calibri"/>
                <a:ea typeface="Calibri"/>
                <a:cs typeface="Calibri"/>
              </a:rPr>
              <a:t>Позже</a:t>
            </a:r>
          </a:p>
        </p:txBody>
      </p:sp>
      <p:sp>
        <p:nvSpPr>
          <p:cNvPr id="18" name="TextBox 17"/>
          <p:cNvSpPr txBox="1"/>
          <p:nvPr/>
        </p:nvSpPr>
        <p:spPr>
          <a:xfrm>
            <a:off x="8284464" y="3657600"/>
            <a:ext cx="3108960" cy="1828800"/>
          </a:xfrm>
          <a:prstGeom prst="rect">
            <a:avLst/>
          </a:prstGeom>
          <a:noFill/>
        </p:spPr>
        <p:txBody>
          <a:bodyPr wrap="square" lIns="0" rIns="0" tIns="0" bIns="0"/>
          <a:lstStyle/>
          <a:p>
            <a:pPr algn="l"/>
            <a:r>
              <a:rPr sz="1800" b="0">
                <a:solidFill>
                  <a:srgbClr val="5E564A"/>
                </a:solidFill>
                <a:latin typeface="Calibri"/>
                <a:ea typeface="Calibri"/>
                <a:cs typeface="Calibri"/>
              </a:rPr>
              <a:t>Можно сделать кабинет студии, чтобы читать отзывы своего круга. Этого ещё нет.</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91440" cy="6858000"/>
          </a:xfrm>
          <a:prstGeom prst="rect">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6510528"/>
            <a:ext cx="7315200" cy="256032"/>
          </a:xfrm>
          <a:prstGeom prst="rect">
            <a:avLst/>
          </a:prstGeom>
          <a:noFill/>
        </p:spPr>
        <p:txBody>
          <a:bodyPr wrap="square" lIns="0" rIns="0" tIns="0" bIns="0"/>
          <a:lstStyle/>
          <a:p>
            <a:pPr algn="l"/>
            <a:r>
              <a:rPr sz="1300" b="0">
                <a:solidFill>
                  <a:srgbClr val="5E564A"/>
                </a:solidFill>
                <a:latin typeface="Calibri"/>
                <a:ea typeface="Calibri"/>
                <a:cs typeface="Calibri"/>
              </a:rPr>
              <a:t>Полка  ·  отзывы на игры</a:t>
            </a:r>
          </a:p>
        </p:txBody>
      </p:sp>
      <p:sp>
        <p:nvSpPr>
          <p:cNvPr id="4" name="TextBox 3"/>
          <p:cNvSpPr txBox="1"/>
          <p:nvPr/>
        </p:nvSpPr>
        <p:spPr>
          <a:xfrm>
            <a:off x="9692640" y="6510528"/>
            <a:ext cx="2103120" cy="256032"/>
          </a:xfrm>
          <a:prstGeom prst="rect">
            <a:avLst/>
          </a:prstGeom>
          <a:noFill/>
        </p:spPr>
        <p:txBody>
          <a:bodyPr wrap="square" lIns="0" rIns="0" tIns="0" bIns="0"/>
          <a:lstStyle/>
          <a:p>
            <a:pPr algn="r"/>
            <a:r>
              <a:rPr sz="1300" b="0">
                <a:solidFill>
                  <a:srgbClr val="5E564A"/>
                </a:solidFill>
                <a:latin typeface="Calibri"/>
                <a:ea typeface="Calibri"/>
                <a:cs typeface="Calibri"/>
              </a:rPr>
              <a:t>8  /  14</a:t>
            </a:r>
          </a:p>
        </p:txBody>
      </p:sp>
      <p:sp>
        <p:nvSpPr>
          <p:cNvPr id="5" name="TextBox 4"/>
          <p:cNvSpPr txBox="1"/>
          <p:nvPr/>
        </p:nvSpPr>
        <p:spPr>
          <a:xfrm>
            <a:off x="438912" y="256032"/>
            <a:ext cx="10972800" cy="256032"/>
          </a:xfrm>
          <a:prstGeom prst="rect">
            <a:avLst/>
          </a:prstGeom>
          <a:noFill/>
        </p:spPr>
        <p:txBody>
          <a:bodyPr wrap="square" lIns="0" rIns="0" tIns="0" bIns="0"/>
          <a:lstStyle/>
          <a:p>
            <a:pPr algn="l"/>
            <a:r>
              <a:rPr sz="1300" b="1">
                <a:solidFill>
                  <a:srgbClr val="C2412D"/>
                </a:solidFill>
                <a:latin typeface="Calibri"/>
                <a:ea typeface="Calibri"/>
                <a:cs typeface="Calibri"/>
              </a:rPr>
              <a:t>ДЕМОНСТРАЦИЯ</a:t>
            </a:r>
          </a:p>
        </p:txBody>
      </p:sp>
      <p:sp>
        <p:nvSpPr>
          <p:cNvPr id="6" name="TextBox 5"/>
          <p:cNvSpPr txBox="1"/>
          <p:nvPr/>
        </p:nvSpPr>
        <p:spPr>
          <a:xfrm>
            <a:off x="438912" y="384048"/>
            <a:ext cx="11155680" cy="777240"/>
          </a:xfrm>
          <a:prstGeom prst="rect">
            <a:avLst/>
          </a:prstGeom>
          <a:noFill/>
        </p:spPr>
        <p:txBody>
          <a:bodyPr wrap="square" lIns="0" rIns="0" tIns="0" bIns="0"/>
          <a:lstStyle/>
          <a:p>
            <a:pPr algn="l"/>
            <a:r>
              <a:rPr sz="3200" b="1">
                <a:solidFill>
                  <a:srgbClr val="1C1915"/>
                </a:solidFill>
                <a:latin typeface="Calibri"/>
                <a:ea typeface="Calibri"/>
                <a:cs typeface="Calibri"/>
              </a:rPr>
              <a:t>Так это выглядит</a:t>
            </a:r>
          </a:p>
        </p:txBody>
      </p:sp>
      <p:sp>
        <p:nvSpPr>
          <p:cNvPr id="7" name="TextBox 6"/>
          <p:cNvSpPr txBox="1"/>
          <p:nvPr/>
        </p:nvSpPr>
        <p:spPr>
          <a:xfrm>
            <a:off x="438912" y="1170432"/>
            <a:ext cx="5577840" cy="256032"/>
          </a:xfrm>
          <a:prstGeom prst="rect">
            <a:avLst/>
          </a:prstGeom>
          <a:noFill/>
        </p:spPr>
        <p:txBody>
          <a:bodyPr wrap="square" lIns="0" rIns="0" tIns="0" bIns="0"/>
          <a:lstStyle/>
          <a:p>
            <a:pPr algn="l"/>
            <a:r>
              <a:rPr sz="1400" b="0">
                <a:solidFill>
                  <a:srgbClr val="5E564A"/>
                </a:solidFill>
                <a:latin typeface="Calibri"/>
                <a:ea typeface="Calibri"/>
                <a:cs typeface="Calibri"/>
              </a:rPr>
              <a:t>Каталог. Выше оценка — выше карточка.</a:t>
            </a:r>
          </a:p>
        </p:txBody>
      </p:sp>
      <p:sp>
        <p:nvSpPr>
          <p:cNvPr id="8" name="TextBox 7"/>
          <p:cNvSpPr txBox="1"/>
          <p:nvPr/>
        </p:nvSpPr>
        <p:spPr>
          <a:xfrm>
            <a:off x="6309360" y="1170432"/>
            <a:ext cx="5486400" cy="256032"/>
          </a:xfrm>
          <a:prstGeom prst="rect">
            <a:avLst/>
          </a:prstGeom>
          <a:noFill/>
        </p:spPr>
        <p:txBody>
          <a:bodyPr wrap="square" lIns="0" rIns="0" tIns="0" bIns="0"/>
          <a:lstStyle/>
          <a:p>
            <a:pPr algn="l"/>
            <a:r>
              <a:rPr sz="1400" b="0">
                <a:solidFill>
                  <a:srgbClr val="5E564A"/>
                </a:solidFill>
                <a:latin typeface="Calibri"/>
                <a:ea typeface="Calibri"/>
                <a:cs typeface="Calibri"/>
              </a:rPr>
              <a:t>Hollow Knight. Средняя 9,0 по трём отзывам.</a:t>
            </a:r>
          </a:p>
        </p:txBody>
      </p:sp>
      <p:pic>
        <p:nvPicPr>
          <p:cNvPr id="9" name="Picture 8" descr="catalog.png"/>
          <p:cNvPicPr>
            <a:picLocks noChangeAspect="1"/>
          </p:cNvPicPr>
          <p:nvPr/>
        </p:nvPicPr>
        <p:blipFill>
          <a:blip r:embed="rId2"/>
          <a:stretch>
            <a:fillRect/>
          </a:stretch>
        </p:blipFill>
        <p:spPr>
          <a:xfrm>
            <a:off x="438912" y="1481328"/>
            <a:ext cx="5623560" cy="3511296"/>
          </a:xfrm>
          <a:prstGeom prst="rect">
            <a:avLst/>
          </a:prstGeom>
        </p:spPr>
      </p:pic>
      <p:pic>
        <p:nvPicPr>
          <p:cNvPr id="10" name="Picture 9" descr="game.png"/>
          <p:cNvPicPr>
            <a:picLocks noChangeAspect="1"/>
          </p:cNvPicPr>
          <p:nvPr/>
        </p:nvPicPr>
        <p:blipFill>
          <a:blip r:embed="rId3"/>
          <a:stretch>
            <a:fillRect/>
          </a:stretch>
        </p:blipFill>
        <p:spPr>
          <a:xfrm>
            <a:off x="6263640" y="1481328"/>
            <a:ext cx="5486400" cy="3429000"/>
          </a:xfrm>
          <a:prstGeom prst="rect">
            <a:avLst/>
          </a:prstGeom>
        </p:spPr>
      </p:pic>
      <p:sp>
        <p:nvSpPr>
          <p:cNvPr id="11" name="TextBox 10"/>
          <p:cNvSpPr txBox="1"/>
          <p:nvPr/>
        </p:nvSpPr>
        <p:spPr>
          <a:xfrm>
            <a:off x="438912" y="5166360"/>
            <a:ext cx="11247120" cy="1051560"/>
          </a:xfrm>
          <a:prstGeom prst="rect">
            <a:avLst/>
          </a:prstGeom>
          <a:noFill/>
        </p:spPr>
        <p:txBody>
          <a:bodyPr wrap="square" lIns="0" rIns="0" tIns="0" bIns="0"/>
          <a:lstStyle/>
          <a:p>
            <a:pPr algn="l"/>
            <a:r>
              <a:rPr sz="1800" b="0">
                <a:solidFill>
                  <a:srgbClr val="5E564A"/>
                </a:solidFill>
                <a:latin typeface="Calibri"/>
                <a:ea typeface="Calibri"/>
                <a:cs typeface="Calibri"/>
              </a:rPr>
              <a:t>Гость читает каталог без входа. Оценку ставит после входа. Экраны собрал Иванов Н.С.</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91440" cy="6858000"/>
          </a:xfrm>
          <a:prstGeom prst="rect">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6510528"/>
            <a:ext cx="7315200" cy="256032"/>
          </a:xfrm>
          <a:prstGeom prst="rect">
            <a:avLst/>
          </a:prstGeom>
          <a:noFill/>
        </p:spPr>
        <p:txBody>
          <a:bodyPr wrap="square" lIns="0" rIns="0" tIns="0" bIns="0"/>
          <a:lstStyle/>
          <a:p>
            <a:pPr algn="l"/>
            <a:r>
              <a:rPr sz="1300" b="0">
                <a:solidFill>
                  <a:srgbClr val="5E564A"/>
                </a:solidFill>
                <a:latin typeface="Calibri"/>
                <a:ea typeface="Calibri"/>
                <a:cs typeface="Calibri"/>
              </a:rPr>
              <a:t>Полка  ·  отзывы на игры</a:t>
            </a:r>
          </a:p>
        </p:txBody>
      </p:sp>
      <p:sp>
        <p:nvSpPr>
          <p:cNvPr id="4" name="TextBox 3"/>
          <p:cNvSpPr txBox="1"/>
          <p:nvPr/>
        </p:nvSpPr>
        <p:spPr>
          <a:xfrm>
            <a:off x="9692640" y="6510528"/>
            <a:ext cx="2103120" cy="256032"/>
          </a:xfrm>
          <a:prstGeom prst="rect">
            <a:avLst/>
          </a:prstGeom>
          <a:noFill/>
        </p:spPr>
        <p:txBody>
          <a:bodyPr wrap="square" lIns="0" rIns="0" tIns="0" bIns="0"/>
          <a:lstStyle/>
          <a:p>
            <a:pPr algn="r"/>
            <a:r>
              <a:rPr sz="1300" b="0">
                <a:solidFill>
                  <a:srgbClr val="5E564A"/>
                </a:solidFill>
                <a:latin typeface="Calibri"/>
                <a:ea typeface="Calibri"/>
                <a:cs typeface="Calibri"/>
              </a:rPr>
              <a:t>9  /  14</a:t>
            </a:r>
          </a:p>
        </p:txBody>
      </p:sp>
      <p:sp>
        <p:nvSpPr>
          <p:cNvPr id="5" name="TextBox 4"/>
          <p:cNvSpPr txBox="1"/>
          <p:nvPr/>
        </p:nvSpPr>
        <p:spPr>
          <a:xfrm>
            <a:off x="438912" y="256032"/>
            <a:ext cx="10972800" cy="256032"/>
          </a:xfrm>
          <a:prstGeom prst="rect">
            <a:avLst/>
          </a:prstGeom>
          <a:noFill/>
        </p:spPr>
        <p:txBody>
          <a:bodyPr wrap="square" lIns="0" rIns="0" tIns="0" bIns="0"/>
          <a:lstStyle/>
          <a:p>
            <a:pPr algn="l"/>
            <a:r>
              <a:rPr sz="1300" b="1">
                <a:solidFill>
                  <a:srgbClr val="C2412D"/>
                </a:solidFill>
                <a:latin typeface="Calibri"/>
                <a:ea typeface="Calibri"/>
                <a:cs typeface="Calibri"/>
              </a:rPr>
              <a:t>ДЕМОНСТРАЦИЯ</a:t>
            </a:r>
          </a:p>
        </p:txBody>
      </p:sp>
      <p:sp>
        <p:nvSpPr>
          <p:cNvPr id="6" name="TextBox 5"/>
          <p:cNvSpPr txBox="1"/>
          <p:nvPr/>
        </p:nvSpPr>
        <p:spPr>
          <a:xfrm>
            <a:off x="438912" y="384048"/>
            <a:ext cx="11155680" cy="777240"/>
          </a:xfrm>
          <a:prstGeom prst="rect">
            <a:avLst/>
          </a:prstGeom>
          <a:noFill/>
        </p:spPr>
        <p:txBody>
          <a:bodyPr wrap="square" lIns="0" rIns="0" tIns="0" bIns="0"/>
          <a:lstStyle/>
          <a:p>
            <a:pPr algn="l"/>
            <a:r>
              <a:rPr sz="3200" b="1">
                <a:solidFill>
                  <a:srgbClr val="1C1915"/>
                </a:solidFill>
                <a:latin typeface="Calibri"/>
                <a:ea typeface="Calibri"/>
                <a:cs typeface="Calibri"/>
              </a:rPr>
              <a:t>Что открыть</a:t>
            </a:r>
          </a:p>
        </p:txBody>
      </p:sp>
      <p:sp>
        <p:nvSpPr>
          <p:cNvPr id="7" name="TextBox 6"/>
          <p:cNvSpPr txBox="1"/>
          <p:nvPr/>
        </p:nvSpPr>
        <p:spPr>
          <a:xfrm>
            <a:off x="438912" y="1325880"/>
            <a:ext cx="457200" cy="365760"/>
          </a:xfrm>
          <a:prstGeom prst="rect">
            <a:avLst/>
          </a:prstGeom>
          <a:noFill/>
        </p:spPr>
        <p:txBody>
          <a:bodyPr wrap="square" lIns="0" rIns="0" tIns="0" bIns="0"/>
          <a:lstStyle/>
          <a:p>
            <a:pPr algn="l"/>
            <a:r>
              <a:rPr sz="2200" b="1">
                <a:solidFill>
                  <a:srgbClr val="C2412D"/>
                </a:solidFill>
                <a:latin typeface="Calibri"/>
                <a:ea typeface="Calibri"/>
                <a:cs typeface="Calibri"/>
              </a:rPr>
              <a:t>1</a:t>
            </a:r>
          </a:p>
        </p:txBody>
      </p:sp>
      <p:sp>
        <p:nvSpPr>
          <p:cNvPr id="8" name="TextBox 7"/>
          <p:cNvSpPr txBox="1"/>
          <p:nvPr/>
        </p:nvSpPr>
        <p:spPr>
          <a:xfrm>
            <a:off x="1005840" y="1325880"/>
            <a:ext cx="10607040" cy="502920"/>
          </a:xfrm>
          <a:prstGeom prst="rect">
            <a:avLst/>
          </a:prstGeom>
          <a:noFill/>
        </p:spPr>
        <p:txBody>
          <a:bodyPr wrap="square" lIns="0" rIns="0" tIns="0" bIns="0"/>
          <a:lstStyle/>
          <a:p>
            <a:pPr algn="l"/>
            <a:r>
              <a:rPr sz="2000" b="0">
                <a:solidFill>
                  <a:srgbClr val="1C1915"/>
                </a:solidFill>
                <a:latin typeface="Calibri"/>
                <a:ea typeface="Calibri"/>
                <a:cs typeface="Calibri"/>
              </a:rPr>
              <a:t>Фильтр «Платформер» — остаётся Celeste.</a:t>
            </a:r>
          </a:p>
        </p:txBody>
      </p:sp>
      <p:sp>
        <p:nvSpPr>
          <p:cNvPr id="9" name="TextBox 8"/>
          <p:cNvSpPr txBox="1"/>
          <p:nvPr/>
        </p:nvSpPr>
        <p:spPr>
          <a:xfrm>
            <a:off x="438912" y="2039112"/>
            <a:ext cx="457200" cy="365760"/>
          </a:xfrm>
          <a:prstGeom prst="rect">
            <a:avLst/>
          </a:prstGeom>
          <a:noFill/>
        </p:spPr>
        <p:txBody>
          <a:bodyPr wrap="square" lIns="0" rIns="0" tIns="0" bIns="0"/>
          <a:lstStyle/>
          <a:p>
            <a:pPr algn="l"/>
            <a:r>
              <a:rPr sz="2200" b="1">
                <a:solidFill>
                  <a:srgbClr val="C2412D"/>
                </a:solidFill>
                <a:latin typeface="Calibri"/>
                <a:ea typeface="Calibri"/>
                <a:cs typeface="Calibri"/>
              </a:rPr>
              <a:t>2</a:t>
            </a:r>
          </a:p>
        </p:txBody>
      </p:sp>
      <p:sp>
        <p:nvSpPr>
          <p:cNvPr id="10" name="TextBox 9"/>
          <p:cNvSpPr txBox="1"/>
          <p:nvPr/>
        </p:nvSpPr>
        <p:spPr>
          <a:xfrm>
            <a:off x="1005840" y="2039112"/>
            <a:ext cx="10607040" cy="502920"/>
          </a:xfrm>
          <a:prstGeom prst="rect">
            <a:avLst/>
          </a:prstGeom>
          <a:noFill/>
        </p:spPr>
        <p:txBody>
          <a:bodyPr wrap="square" lIns="0" rIns="0" tIns="0" bIns="0"/>
          <a:lstStyle/>
          <a:p>
            <a:pPr algn="l"/>
            <a:r>
              <a:rPr sz="2000" b="0">
                <a:solidFill>
                  <a:srgbClr val="1C1915"/>
                </a:solidFill>
                <a:latin typeface="Calibri"/>
                <a:ea typeface="Calibri"/>
                <a:cs typeface="Calibri"/>
              </a:rPr>
              <a:t>Hollow Knight: оценка 9,0 и три отзыва с именами.</a:t>
            </a:r>
          </a:p>
        </p:txBody>
      </p:sp>
      <p:sp>
        <p:nvSpPr>
          <p:cNvPr id="11" name="TextBox 10"/>
          <p:cNvSpPr txBox="1"/>
          <p:nvPr/>
        </p:nvSpPr>
        <p:spPr>
          <a:xfrm>
            <a:off x="438912" y="2752344"/>
            <a:ext cx="457200" cy="365760"/>
          </a:xfrm>
          <a:prstGeom prst="rect">
            <a:avLst/>
          </a:prstGeom>
          <a:noFill/>
        </p:spPr>
        <p:txBody>
          <a:bodyPr wrap="square" lIns="0" rIns="0" tIns="0" bIns="0"/>
          <a:lstStyle/>
          <a:p>
            <a:pPr algn="l"/>
            <a:r>
              <a:rPr sz="2200" b="1">
                <a:solidFill>
                  <a:srgbClr val="C2412D"/>
                </a:solidFill>
                <a:latin typeface="Calibri"/>
                <a:ea typeface="Calibri"/>
                <a:cs typeface="Calibri"/>
              </a:rPr>
              <a:t>3</a:t>
            </a:r>
          </a:p>
        </p:txBody>
      </p:sp>
      <p:sp>
        <p:nvSpPr>
          <p:cNvPr id="12" name="TextBox 11"/>
          <p:cNvSpPr txBox="1"/>
          <p:nvPr/>
        </p:nvSpPr>
        <p:spPr>
          <a:xfrm>
            <a:off x="1005840" y="2752344"/>
            <a:ext cx="10607040" cy="502920"/>
          </a:xfrm>
          <a:prstGeom prst="rect">
            <a:avLst/>
          </a:prstGeom>
          <a:noFill/>
        </p:spPr>
        <p:txBody>
          <a:bodyPr wrap="square" lIns="0" rIns="0" tIns="0" bIns="0"/>
          <a:lstStyle/>
          <a:p>
            <a:pPr algn="l"/>
            <a:r>
              <a:rPr sz="2000" b="0">
                <a:solidFill>
                  <a:srgbClr val="1C1915"/>
                </a:solidFill>
                <a:latin typeface="Calibri"/>
                <a:ea typeface="Calibri"/>
                <a:cs typeface="Calibri"/>
              </a:rPr>
              <a:t>Вход: demo@polka.local, пароль polka1234.</a:t>
            </a:r>
          </a:p>
        </p:txBody>
      </p:sp>
      <p:sp>
        <p:nvSpPr>
          <p:cNvPr id="13" name="TextBox 12"/>
          <p:cNvSpPr txBox="1"/>
          <p:nvPr/>
        </p:nvSpPr>
        <p:spPr>
          <a:xfrm>
            <a:off x="438912" y="3465576"/>
            <a:ext cx="457200" cy="365760"/>
          </a:xfrm>
          <a:prstGeom prst="rect">
            <a:avLst/>
          </a:prstGeom>
          <a:noFill/>
        </p:spPr>
        <p:txBody>
          <a:bodyPr wrap="square" lIns="0" rIns="0" tIns="0" bIns="0"/>
          <a:lstStyle/>
          <a:p>
            <a:pPr algn="l"/>
            <a:r>
              <a:rPr sz="2200" b="1">
                <a:solidFill>
                  <a:srgbClr val="C2412D"/>
                </a:solidFill>
                <a:latin typeface="Calibri"/>
                <a:ea typeface="Calibri"/>
                <a:cs typeface="Calibri"/>
              </a:rPr>
              <a:t>4</a:t>
            </a:r>
          </a:p>
        </p:txBody>
      </p:sp>
      <p:sp>
        <p:nvSpPr>
          <p:cNvPr id="14" name="TextBox 13"/>
          <p:cNvSpPr txBox="1"/>
          <p:nvPr/>
        </p:nvSpPr>
        <p:spPr>
          <a:xfrm>
            <a:off x="1005840" y="3465576"/>
            <a:ext cx="10607040" cy="502920"/>
          </a:xfrm>
          <a:prstGeom prst="rect">
            <a:avLst/>
          </a:prstGeom>
          <a:noFill/>
        </p:spPr>
        <p:txBody>
          <a:bodyPr wrap="square" lIns="0" rIns="0" tIns="0" bIns="0"/>
          <a:lstStyle/>
          <a:p>
            <a:pPr algn="l"/>
            <a:r>
              <a:rPr sz="2000" b="0">
                <a:solidFill>
                  <a:srgbClr val="1C1915"/>
                </a:solidFill>
                <a:latin typeface="Calibri"/>
                <a:ea typeface="Calibri"/>
                <a:cs typeface="Calibri"/>
              </a:rPr>
              <a:t>«Добавить игру» — Cuphead. Обложка уже на карточке.</a:t>
            </a:r>
          </a:p>
        </p:txBody>
      </p:sp>
      <p:sp>
        <p:nvSpPr>
          <p:cNvPr id="15" name="TextBox 14"/>
          <p:cNvSpPr txBox="1"/>
          <p:nvPr/>
        </p:nvSpPr>
        <p:spPr>
          <a:xfrm>
            <a:off x="438912" y="4178808"/>
            <a:ext cx="457200" cy="365760"/>
          </a:xfrm>
          <a:prstGeom prst="rect">
            <a:avLst/>
          </a:prstGeom>
          <a:noFill/>
        </p:spPr>
        <p:txBody>
          <a:bodyPr wrap="square" lIns="0" rIns="0" tIns="0" bIns="0"/>
          <a:lstStyle/>
          <a:p>
            <a:pPr algn="l"/>
            <a:r>
              <a:rPr sz="2200" b="1">
                <a:solidFill>
                  <a:srgbClr val="C2412D"/>
                </a:solidFill>
                <a:latin typeface="Calibri"/>
                <a:ea typeface="Calibri"/>
                <a:cs typeface="Calibri"/>
              </a:rPr>
              <a:t>5</a:t>
            </a:r>
          </a:p>
        </p:txBody>
      </p:sp>
      <p:sp>
        <p:nvSpPr>
          <p:cNvPr id="16" name="TextBox 15"/>
          <p:cNvSpPr txBox="1"/>
          <p:nvPr/>
        </p:nvSpPr>
        <p:spPr>
          <a:xfrm>
            <a:off x="1005840" y="4178808"/>
            <a:ext cx="10607040" cy="502920"/>
          </a:xfrm>
          <a:prstGeom prst="rect">
            <a:avLst/>
          </a:prstGeom>
          <a:noFill/>
        </p:spPr>
        <p:txBody>
          <a:bodyPr wrap="square" lIns="0" rIns="0" tIns="0" bIns="0"/>
          <a:lstStyle/>
          <a:p>
            <a:pPr algn="l"/>
            <a:r>
              <a:rPr sz="2000" b="0">
                <a:solidFill>
                  <a:srgbClr val="1C1915"/>
                </a:solidFill>
                <a:latin typeface="Calibri"/>
                <a:ea typeface="Calibri"/>
                <a:cs typeface="Calibri"/>
              </a:rPr>
              <a:t>Одна оценка. Сервер пересчитывает среднюю.</a:t>
            </a:r>
          </a:p>
        </p:txBody>
      </p:sp>
      <p:sp>
        <p:nvSpPr>
          <p:cNvPr id="17" name="TextBox 16"/>
          <p:cNvSpPr txBox="1"/>
          <p:nvPr/>
        </p:nvSpPr>
        <p:spPr>
          <a:xfrm>
            <a:off x="438912" y="4892040"/>
            <a:ext cx="457200" cy="365760"/>
          </a:xfrm>
          <a:prstGeom prst="rect">
            <a:avLst/>
          </a:prstGeom>
          <a:noFill/>
        </p:spPr>
        <p:txBody>
          <a:bodyPr wrap="square" lIns="0" rIns="0" tIns="0" bIns="0"/>
          <a:lstStyle/>
          <a:p>
            <a:pPr algn="l"/>
            <a:r>
              <a:rPr sz="2200" b="1">
                <a:solidFill>
                  <a:srgbClr val="C2412D"/>
                </a:solidFill>
                <a:latin typeface="Calibri"/>
                <a:ea typeface="Calibri"/>
                <a:cs typeface="Calibri"/>
              </a:rPr>
              <a:t>6</a:t>
            </a:r>
          </a:p>
        </p:txBody>
      </p:sp>
      <p:sp>
        <p:nvSpPr>
          <p:cNvPr id="18" name="TextBox 17"/>
          <p:cNvSpPr txBox="1"/>
          <p:nvPr/>
        </p:nvSpPr>
        <p:spPr>
          <a:xfrm>
            <a:off x="1005840" y="4892040"/>
            <a:ext cx="10607040" cy="502920"/>
          </a:xfrm>
          <a:prstGeom prst="rect">
            <a:avLst/>
          </a:prstGeom>
          <a:noFill/>
        </p:spPr>
        <p:txBody>
          <a:bodyPr wrap="square" lIns="0" rIns="0" tIns="0" bIns="0"/>
          <a:lstStyle/>
          <a:p>
            <a:pPr algn="l"/>
            <a:r>
              <a:rPr sz="2000" b="0">
                <a:solidFill>
                  <a:srgbClr val="1C1915"/>
                </a:solidFill>
                <a:latin typeface="Calibri"/>
                <a:ea typeface="Calibri"/>
                <a:cs typeface="Calibri"/>
              </a:rPr>
              <a:t>Имя в шапке: свои игры и свои отзывы.</a:t>
            </a:r>
          </a:p>
        </p:txBody>
      </p:sp>
      <p:sp>
        <p:nvSpPr>
          <p:cNvPr id="19" name="TextBox 18"/>
          <p:cNvSpPr txBox="1"/>
          <p:nvPr/>
        </p:nvSpPr>
        <p:spPr>
          <a:xfrm>
            <a:off x="438912" y="5715000"/>
            <a:ext cx="11247120" cy="457200"/>
          </a:xfrm>
          <a:prstGeom prst="rect">
            <a:avLst/>
          </a:prstGeom>
          <a:noFill/>
        </p:spPr>
        <p:txBody>
          <a:bodyPr wrap="square" lIns="0" rIns="0" tIns="0" bIns="0"/>
          <a:lstStyle/>
          <a:p>
            <a:pPr algn="l"/>
            <a:r>
              <a:rPr sz="1800" b="1">
                <a:solidFill>
                  <a:srgbClr val="C2412D"/>
                </a:solidFill>
                <a:latin typeface="Calibri"/>
                <a:ea typeface="Calibri"/>
                <a:cs typeface="Calibri"/>
              </a:rPr>
              <a:t>Сценарии и серверную часть собрал Иванов Н.С.</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91440" cy="6858000"/>
          </a:xfrm>
          <a:prstGeom prst="rect">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6510528"/>
            <a:ext cx="7315200" cy="256032"/>
          </a:xfrm>
          <a:prstGeom prst="rect">
            <a:avLst/>
          </a:prstGeom>
          <a:noFill/>
        </p:spPr>
        <p:txBody>
          <a:bodyPr wrap="square" lIns="0" rIns="0" tIns="0" bIns="0"/>
          <a:lstStyle/>
          <a:p>
            <a:pPr algn="l"/>
            <a:r>
              <a:rPr sz="1300" b="0">
                <a:solidFill>
                  <a:srgbClr val="5E564A"/>
                </a:solidFill>
                <a:latin typeface="Calibri"/>
                <a:ea typeface="Calibri"/>
                <a:cs typeface="Calibri"/>
              </a:rPr>
              <a:t>Полка  ·  отзывы на игры</a:t>
            </a:r>
          </a:p>
        </p:txBody>
      </p:sp>
      <p:sp>
        <p:nvSpPr>
          <p:cNvPr id="4" name="TextBox 3"/>
          <p:cNvSpPr txBox="1"/>
          <p:nvPr/>
        </p:nvSpPr>
        <p:spPr>
          <a:xfrm>
            <a:off x="9692640" y="6510528"/>
            <a:ext cx="2103120" cy="256032"/>
          </a:xfrm>
          <a:prstGeom prst="rect">
            <a:avLst/>
          </a:prstGeom>
          <a:noFill/>
        </p:spPr>
        <p:txBody>
          <a:bodyPr wrap="square" lIns="0" rIns="0" tIns="0" bIns="0"/>
          <a:lstStyle/>
          <a:p>
            <a:pPr algn="r"/>
            <a:r>
              <a:rPr sz="1300" b="0">
                <a:solidFill>
                  <a:srgbClr val="5E564A"/>
                </a:solidFill>
                <a:latin typeface="Calibri"/>
                <a:ea typeface="Calibri"/>
                <a:cs typeface="Calibri"/>
              </a:rPr>
              <a:t>10  /  14</a:t>
            </a:r>
          </a:p>
        </p:txBody>
      </p:sp>
      <p:sp>
        <p:nvSpPr>
          <p:cNvPr id="5" name="TextBox 4"/>
          <p:cNvSpPr txBox="1"/>
          <p:nvPr/>
        </p:nvSpPr>
        <p:spPr>
          <a:xfrm>
            <a:off x="438912" y="256032"/>
            <a:ext cx="10972800" cy="256032"/>
          </a:xfrm>
          <a:prstGeom prst="rect">
            <a:avLst/>
          </a:prstGeom>
          <a:noFill/>
        </p:spPr>
        <p:txBody>
          <a:bodyPr wrap="square" lIns="0" rIns="0" tIns="0" bIns="0"/>
          <a:lstStyle/>
          <a:p>
            <a:pPr algn="l"/>
            <a:r>
              <a:rPr sz="1300" b="1">
                <a:solidFill>
                  <a:srgbClr val="C2412D"/>
                </a:solidFill>
                <a:latin typeface="Calibri"/>
                <a:ea typeface="Calibri"/>
                <a:cs typeface="Calibri"/>
              </a:rPr>
              <a:t>КОМАНДА</a:t>
            </a:r>
          </a:p>
        </p:txBody>
      </p:sp>
      <p:sp>
        <p:nvSpPr>
          <p:cNvPr id="6" name="TextBox 5"/>
          <p:cNvSpPr txBox="1"/>
          <p:nvPr/>
        </p:nvSpPr>
        <p:spPr>
          <a:xfrm>
            <a:off x="438912" y="530352"/>
            <a:ext cx="11155680" cy="777240"/>
          </a:xfrm>
          <a:prstGeom prst="rect">
            <a:avLst/>
          </a:prstGeom>
          <a:noFill/>
        </p:spPr>
        <p:txBody>
          <a:bodyPr wrap="square" lIns="0" rIns="0" tIns="0" bIns="0"/>
          <a:lstStyle/>
          <a:p>
            <a:pPr algn="l"/>
            <a:r>
              <a:rPr sz="3200" b="1">
                <a:solidFill>
                  <a:srgbClr val="1C1915"/>
                </a:solidFill>
                <a:latin typeface="Calibri"/>
                <a:ea typeface="Calibri"/>
                <a:cs typeface="Calibri"/>
              </a:rPr>
              <a:t>Команда проекта</a:t>
            </a:r>
          </a:p>
        </p:txBody>
      </p:sp>
      <p:sp>
        <p:nvSpPr>
          <p:cNvPr id="7" name="TextBox 6"/>
          <p:cNvSpPr txBox="1"/>
          <p:nvPr/>
        </p:nvSpPr>
        <p:spPr>
          <a:xfrm>
            <a:off x="438912" y="1417320"/>
            <a:ext cx="11247120" cy="640080"/>
          </a:xfrm>
          <a:prstGeom prst="rect">
            <a:avLst/>
          </a:prstGeom>
          <a:noFill/>
        </p:spPr>
        <p:txBody>
          <a:bodyPr wrap="square" lIns="0" rIns="0" tIns="0" bIns="0"/>
          <a:lstStyle/>
          <a:p>
            <a:pPr algn="l"/>
            <a:r>
              <a:rPr sz="2600" b="1">
                <a:solidFill>
                  <a:srgbClr val="1C1915"/>
                </a:solidFill>
                <a:latin typeface="Calibri"/>
                <a:ea typeface="Calibri"/>
                <a:cs typeface="Calibri"/>
              </a:rPr>
              <a:t>Иванов Никита Сергеевич — разработчик</a:t>
            </a:r>
          </a:p>
        </p:txBody>
      </p:sp>
      <p:sp>
        <p:nvSpPr>
          <p:cNvPr id="8" name="TextBox 7"/>
          <p:cNvSpPr txBox="1"/>
          <p:nvPr/>
        </p:nvSpPr>
        <p:spPr>
          <a:xfrm>
            <a:off x="438912" y="2011680"/>
            <a:ext cx="11247120" cy="365760"/>
          </a:xfrm>
          <a:prstGeom prst="rect">
            <a:avLst/>
          </a:prstGeom>
          <a:noFill/>
        </p:spPr>
        <p:txBody>
          <a:bodyPr wrap="square" lIns="0" rIns="0" tIns="0" bIns="0"/>
          <a:lstStyle/>
          <a:p>
            <a:pPr algn="l"/>
            <a:r>
              <a:rPr sz="1800" b="0">
                <a:solidFill>
                  <a:srgbClr val="5E564A"/>
                </a:solidFill>
                <a:latin typeface="Calibri"/>
                <a:ea typeface="Calibri"/>
                <a:cs typeface="Calibri"/>
              </a:rPr>
              <a:t>Группа БПИ2304</a:t>
            </a:r>
          </a:p>
        </p:txBody>
      </p:sp>
      <p:sp>
        <p:nvSpPr>
          <p:cNvPr id="9" name="Rounded Rectangle 8"/>
          <p:cNvSpPr/>
          <p:nvPr/>
        </p:nvSpPr>
        <p:spPr>
          <a:xfrm>
            <a:off x="438912" y="2514600"/>
            <a:ext cx="2651760" cy="731520"/>
          </a:xfrm>
          <a:prstGeom prst="roundRect">
            <a:avLst>
              <a:gd name="adj" fmla="val 8000"/>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 y="2679192"/>
            <a:ext cx="2468880" cy="411480"/>
          </a:xfrm>
          <a:prstGeom prst="rect">
            <a:avLst/>
          </a:prstGeom>
          <a:noFill/>
        </p:spPr>
        <p:txBody>
          <a:bodyPr wrap="square" lIns="0" rIns="0" tIns="0" bIns="0"/>
          <a:lstStyle/>
          <a:p>
            <a:pPr algn="ctr"/>
            <a:r>
              <a:rPr sz="1500" b="1">
                <a:solidFill>
                  <a:srgbClr val="FFFCF6"/>
                </a:solidFill>
                <a:latin typeface="Calibri"/>
                <a:ea typeface="Calibri"/>
                <a:cs typeface="Calibri"/>
              </a:rPr>
              <a:t>Страницы</a:t>
            </a:r>
          </a:p>
        </p:txBody>
      </p:sp>
      <p:sp>
        <p:nvSpPr>
          <p:cNvPr id="11" name="TextBox 10"/>
          <p:cNvSpPr txBox="1"/>
          <p:nvPr/>
        </p:nvSpPr>
        <p:spPr>
          <a:xfrm>
            <a:off x="3291840" y="2660904"/>
            <a:ext cx="8321040" cy="457200"/>
          </a:xfrm>
          <a:prstGeom prst="rect">
            <a:avLst/>
          </a:prstGeom>
          <a:noFill/>
        </p:spPr>
        <p:txBody>
          <a:bodyPr wrap="square" lIns="0" rIns="0" tIns="0" bIns="0"/>
          <a:lstStyle/>
          <a:p>
            <a:pPr algn="l"/>
            <a:r>
              <a:rPr sz="2000" b="0">
                <a:solidFill>
                  <a:srgbClr val="1C1915"/>
                </a:solidFill>
                <a:latin typeface="Calibri"/>
                <a:ea typeface="Calibri"/>
                <a:cs typeface="Calibri"/>
              </a:rPr>
              <a:t>Каталог, карточка, вход, добавление игры, новинки.</a:t>
            </a:r>
          </a:p>
        </p:txBody>
      </p:sp>
      <p:sp>
        <p:nvSpPr>
          <p:cNvPr id="12" name="Rounded Rectangle 11"/>
          <p:cNvSpPr/>
          <p:nvPr/>
        </p:nvSpPr>
        <p:spPr>
          <a:xfrm>
            <a:off x="438912" y="3383280"/>
            <a:ext cx="2651760" cy="731520"/>
          </a:xfrm>
          <a:prstGeom prst="roundRect">
            <a:avLst>
              <a:gd name="adj" fmla="val 8000"/>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0352" y="3547872"/>
            <a:ext cx="2468880" cy="411480"/>
          </a:xfrm>
          <a:prstGeom prst="rect">
            <a:avLst/>
          </a:prstGeom>
          <a:noFill/>
        </p:spPr>
        <p:txBody>
          <a:bodyPr wrap="square" lIns="0" rIns="0" tIns="0" bIns="0"/>
          <a:lstStyle/>
          <a:p>
            <a:pPr algn="ctr"/>
            <a:r>
              <a:rPr sz="1500" b="1">
                <a:solidFill>
                  <a:srgbClr val="FFFCF6"/>
                </a:solidFill>
                <a:latin typeface="Calibri"/>
                <a:ea typeface="Calibri"/>
                <a:cs typeface="Calibri"/>
              </a:rPr>
              <a:t>Сервер и база</a:t>
            </a:r>
          </a:p>
        </p:txBody>
      </p:sp>
      <p:sp>
        <p:nvSpPr>
          <p:cNvPr id="14" name="TextBox 13"/>
          <p:cNvSpPr txBox="1"/>
          <p:nvPr/>
        </p:nvSpPr>
        <p:spPr>
          <a:xfrm>
            <a:off x="3291840" y="3529584"/>
            <a:ext cx="8321040" cy="457200"/>
          </a:xfrm>
          <a:prstGeom prst="rect">
            <a:avLst/>
          </a:prstGeom>
          <a:noFill/>
        </p:spPr>
        <p:txBody>
          <a:bodyPr wrap="square" lIns="0" rIns="0" tIns="0" bIns="0"/>
          <a:lstStyle/>
          <a:p>
            <a:pPr algn="l"/>
            <a:r>
              <a:rPr sz="2000" b="0">
                <a:solidFill>
                  <a:srgbClr val="1C1915"/>
                </a:solidFill>
                <a:latin typeface="Calibri"/>
                <a:ea typeface="Calibri"/>
                <a:cs typeface="Calibri"/>
              </a:rPr>
              <a:t>Сессия, отзывы, средняя, запрет чужих правок.</a:t>
            </a:r>
          </a:p>
        </p:txBody>
      </p:sp>
      <p:sp>
        <p:nvSpPr>
          <p:cNvPr id="15" name="Rounded Rectangle 14"/>
          <p:cNvSpPr/>
          <p:nvPr/>
        </p:nvSpPr>
        <p:spPr>
          <a:xfrm>
            <a:off x="438912" y="4251960"/>
            <a:ext cx="2651760" cy="731520"/>
          </a:xfrm>
          <a:prstGeom prst="roundRect">
            <a:avLst>
              <a:gd name="adj" fmla="val 8000"/>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4416552"/>
            <a:ext cx="2468880" cy="411480"/>
          </a:xfrm>
          <a:prstGeom prst="rect">
            <a:avLst/>
          </a:prstGeom>
          <a:noFill/>
        </p:spPr>
        <p:txBody>
          <a:bodyPr wrap="square" lIns="0" rIns="0" tIns="0" bIns="0"/>
          <a:lstStyle/>
          <a:p>
            <a:pPr algn="ctr"/>
            <a:r>
              <a:rPr sz="1500" b="1">
                <a:solidFill>
                  <a:srgbClr val="FFFCF6"/>
                </a:solidFill>
                <a:latin typeface="Calibri"/>
                <a:ea typeface="Calibri"/>
                <a:cs typeface="Calibri"/>
              </a:rPr>
              <a:t>Магазины</a:t>
            </a:r>
          </a:p>
        </p:txBody>
      </p:sp>
      <p:sp>
        <p:nvSpPr>
          <p:cNvPr id="17" name="TextBox 16"/>
          <p:cNvSpPr txBox="1"/>
          <p:nvPr/>
        </p:nvSpPr>
        <p:spPr>
          <a:xfrm>
            <a:off x="3291840" y="4398264"/>
            <a:ext cx="8321040" cy="457200"/>
          </a:xfrm>
          <a:prstGeom prst="rect">
            <a:avLst/>
          </a:prstGeom>
          <a:noFill/>
        </p:spPr>
        <p:txBody>
          <a:bodyPr wrap="square" lIns="0" rIns="0" tIns="0" bIns="0"/>
          <a:lstStyle/>
          <a:p>
            <a:pPr algn="l"/>
            <a:r>
              <a:rPr sz="2000" b="0">
                <a:solidFill>
                  <a:srgbClr val="1C1915"/>
                </a:solidFill>
                <a:latin typeface="Calibri"/>
                <a:ea typeface="Calibri"/>
                <a:cs typeface="Calibri"/>
              </a:rPr>
              <a:t>Ссылка только туда, где игра есть, и оценка этого магазина.</a:t>
            </a:r>
          </a:p>
        </p:txBody>
      </p:sp>
      <p:sp>
        <p:nvSpPr>
          <p:cNvPr id="18" name="Rounded Rectangle 17"/>
          <p:cNvSpPr/>
          <p:nvPr/>
        </p:nvSpPr>
        <p:spPr>
          <a:xfrm>
            <a:off x="438912" y="5120640"/>
            <a:ext cx="2651760" cy="731520"/>
          </a:xfrm>
          <a:prstGeom prst="roundRect">
            <a:avLst>
              <a:gd name="adj" fmla="val 8000"/>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0352" y="5285231"/>
            <a:ext cx="2468880" cy="411480"/>
          </a:xfrm>
          <a:prstGeom prst="rect">
            <a:avLst/>
          </a:prstGeom>
          <a:noFill/>
        </p:spPr>
        <p:txBody>
          <a:bodyPr wrap="square" lIns="0" rIns="0" tIns="0" bIns="0"/>
          <a:lstStyle/>
          <a:p>
            <a:pPr algn="ctr"/>
            <a:r>
              <a:rPr sz="1500" b="1">
                <a:solidFill>
                  <a:srgbClr val="FFFCF6"/>
                </a:solidFill>
                <a:latin typeface="Calibri"/>
                <a:ea typeface="Calibri"/>
                <a:cs typeface="Calibri"/>
              </a:rPr>
              <a:t>Проверка</a:t>
            </a:r>
          </a:p>
        </p:txBody>
      </p:sp>
      <p:sp>
        <p:nvSpPr>
          <p:cNvPr id="20" name="TextBox 19"/>
          <p:cNvSpPr txBox="1"/>
          <p:nvPr/>
        </p:nvSpPr>
        <p:spPr>
          <a:xfrm>
            <a:off x="3291840" y="5266944"/>
            <a:ext cx="8321040" cy="457200"/>
          </a:xfrm>
          <a:prstGeom prst="rect">
            <a:avLst/>
          </a:prstGeom>
          <a:noFill/>
        </p:spPr>
        <p:txBody>
          <a:bodyPr wrap="square" lIns="0" rIns="0" tIns="0" bIns="0"/>
          <a:lstStyle/>
          <a:p>
            <a:pPr algn="l"/>
            <a:r>
              <a:rPr sz="2000" b="0">
                <a:solidFill>
                  <a:srgbClr val="1C1915"/>
                </a:solidFill>
                <a:latin typeface="Calibri"/>
                <a:ea typeface="Calibri"/>
                <a:cs typeface="Calibri"/>
              </a:rPr>
              <a:t>Восемь автотестов и ручной проход по основным экранам.</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91440" cy="6858000"/>
          </a:xfrm>
          <a:prstGeom prst="rect">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6510528"/>
            <a:ext cx="7315200" cy="256032"/>
          </a:xfrm>
          <a:prstGeom prst="rect">
            <a:avLst/>
          </a:prstGeom>
          <a:noFill/>
        </p:spPr>
        <p:txBody>
          <a:bodyPr wrap="square" lIns="0" rIns="0" tIns="0" bIns="0"/>
          <a:lstStyle/>
          <a:p>
            <a:pPr algn="l"/>
            <a:r>
              <a:rPr sz="1300" b="0">
                <a:solidFill>
                  <a:srgbClr val="5E564A"/>
                </a:solidFill>
                <a:latin typeface="Calibri"/>
                <a:ea typeface="Calibri"/>
                <a:cs typeface="Calibri"/>
              </a:rPr>
              <a:t>Полка  ·  отзывы на игры</a:t>
            </a:r>
          </a:p>
        </p:txBody>
      </p:sp>
      <p:sp>
        <p:nvSpPr>
          <p:cNvPr id="4" name="TextBox 3"/>
          <p:cNvSpPr txBox="1"/>
          <p:nvPr/>
        </p:nvSpPr>
        <p:spPr>
          <a:xfrm>
            <a:off x="9692640" y="6510528"/>
            <a:ext cx="2103120" cy="256032"/>
          </a:xfrm>
          <a:prstGeom prst="rect">
            <a:avLst/>
          </a:prstGeom>
          <a:noFill/>
        </p:spPr>
        <p:txBody>
          <a:bodyPr wrap="square" lIns="0" rIns="0" tIns="0" bIns="0"/>
          <a:lstStyle/>
          <a:p>
            <a:pPr algn="r"/>
            <a:r>
              <a:rPr sz="1300" b="0">
                <a:solidFill>
                  <a:srgbClr val="5E564A"/>
                </a:solidFill>
                <a:latin typeface="Calibri"/>
                <a:ea typeface="Calibri"/>
                <a:cs typeface="Calibri"/>
              </a:rPr>
              <a:t>11  /  14</a:t>
            </a:r>
          </a:p>
        </p:txBody>
      </p:sp>
      <p:sp>
        <p:nvSpPr>
          <p:cNvPr id="5" name="TextBox 4"/>
          <p:cNvSpPr txBox="1"/>
          <p:nvPr/>
        </p:nvSpPr>
        <p:spPr>
          <a:xfrm>
            <a:off x="438912" y="256032"/>
            <a:ext cx="10972800" cy="256032"/>
          </a:xfrm>
          <a:prstGeom prst="rect">
            <a:avLst/>
          </a:prstGeom>
          <a:noFill/>
        </p:spPr>
        <p:txBody>
          <a:bodyPr wrap="square" lIns="0" rIns="0" tIns="0" bIns="0"/>
          <a:lstStyle/>
          <a:p>
            <a:pPr algn="l"/>
            <a:r>
              <a:rPr sz="1300" b="1">
                <a:solidFill>
                  <a:srgbClr val="C2412D"/>
                </a:solidFill>
                <a:latin typeface="Calibri"/>
                <a:ea typeface="Calibri"/>
                <a:cs typeface="Calibri"/>
              </a:rPr>
              <a:t>УЧАСТНИК</a:t>
            </a:r>
          </a:p>
        </p:txBody>
      </p:sp>
      <p:sp>
        <p:nvSpPr>
          <p:cNvPr id="6" name="TextBox 5"/>
          <p:cNvSpPr txBox="1"/>
          <p:nvPr/>
        </p:nvSpPr>
        <p:spPr>
          <a:xfrm>
            <a:off x="438912" y="457200"/>
            <a:ext cx="11155680" cy="777240"/>
          </a:xfrm>
          <a:prstGeom prst="rect">
            <a:avLst/>
          </a:prstGeom>
          <a:noFill/>
        </p:spPr>
        <p:txBody>
          <a:bodyPr wrap="square" lIns="0" rIns="0" tIns="0" bIns="0"/>
          <a:lstStyle/>
          <a:p>
            <a:pPr algn="l"/>
            <a:r>
              <a:rPr sz="3200" b="1">
                <a:solidFill>
                  <a:srgbClr val="1C1915"/>
                </a:solidFill>
                <a:latin typeface="Calibri"/>
                <a:ea typeface="Calibri"/>
                <a:cs typeface="Calibri"/>
              </a:rPr>
              <a:t>Иванов Никита Сергеевич</a:t>
            </a:r>
          </a:p>
        </p:txBody>
      </p:sp>
      <p:sp>
        <p:nvSpPr>
          <p:cNvPr id="7" name="TextBox 6"/>
          <p:cNvSpPr txBox="1"/>
          <p:nvPr/>
        </p:nvSpPr>
        <p:spPr>
          <a:xfrm>
            <a:off x="438912" y="1325880"/>
            <a:ext cx="10972800" cy="365760"/>
          </a:xfrm>
          <a:prstGeom prst="rect">
            <a:avLst/>
          </a:prstGeom>
          <a:noFill/>
        </p:spPr>
        <p:txBody>
          <a:bodyPr wrap="square" lIns="0" rIns="0" tIns="0" bIns="0"/>
          <a:lstStyle/>
          <a:p>
            <a:pPr algn="l"/>
            <a:r>
              <a:rPr sz="2000" b="0">
                <a:solidFill>
                  <a:srgbClr val="5E564A"/>
                </a:solidFill>
                <a:latin typeface="Calibri"/>
                <a:ea typeface="Calibri"/>
                <a:cs typeface="Calibri"/>
              </a:rPr>
              <a:t>Разработчик</a:t>
            </a:r>
          </a:p>
        </p:txBody>
      </p:sp>
      <p:sp>
        <p:nvSpPr>
          <p:cNvPr id="8" name="TextBox 7"/>
          <p:cNvSpPr txBox="1"/>
          <p:nvPr/>
        </p:nvSpPr>
        <p:spPr>
          <a:xfrm>
            <a:off x="438912" y="1874519"/>
            <a:ext cx="7315200" cy="320040"/>
          </a:xfrm>
          <a:prstGeom prst="rect">
            <a:avLst/>
          </a:prstGeom>
          <a:noFill/>
        </p:spPr>
        <p:txBody>
          <a:bodyPr wrap="square" lIns="0" rIns="0" tIns="0" bIns="0"/>
          <a:lstStyle/>
          <a:p>
            <a:pPr algn="l"/>
            <a:r>
              <a:rPr sz="1600" b="1">
                <a:solidFill>
                  <a:srgbClr val="C2412D"/>
                </a:solidFill>
                <a:latin typeface="Calibri"/>
                <a:ea typeface="Calibri"/>
                <a:cs typeface="Calibri"/>
              </a:rPr>
              <a:t>Ключевые результаты</a:t>
            </a:r>
          </a:p>
        </p:txBody>
      </p:sp>
      <p:sp>
        <p:nvSpPr>
          <p:cNvPr id="9" name="TextBox 8"/>
          <p:cNvSpPr txBox="1"/>
          <p:nvPr/>
        </p:nvSpPr>
        <p:spPr>
          <a:xfrm>
            <a:off x="438912" y="2286000"/>
            <a:ext cx="7498079" cy="457200"/>
          </a:xfrm>
          <a:prstGeom prst="rect">
            <a:avLst/>
          </a:prstGeom>
          <a:noFill/>
        </p:spPr>
        <p:txBody>
          <a:bodyPr wrap="square" lIns="0" rIns="0" tIns="0" bIns="0"/>
          <a:lstStyle/>
          <a:p>
            <a:pPr algn="l"/>
            <a:r>
              <a:rPr sz="2000" b="0">
                <a:solidFill>
                  <a:srgbClr val="1C1915"/>
                </a:solidFill>
                <a:latin typeface="Calibri"/>
                <a:ea typeface="Calibri"/>
                <a:cs typeface="Calibri"/>
              </a:rPr>
              <a:t>•  Каталог, вход, отзыв, новинки и тёмная тема.</a:t>
            </a:r>
          </a:p>
        </p:txBody>
      </p:sp>
      <p:sp>
        <p:nvSpPr>
          <p:cNvPr id="10" name="TextBox 9"/>
          <p:cNvSpPr txBox="1"/>
          <p:nvPr/>
        </p:nvSpPr>
        <p:spPr>
          <a:xfrm>
            <a:off x="438912" y="2788920"/>
            <a:ext cx="7498079" cy="457200"/>
          </a:xfrm>
          <a:prstGeom prst="rect">
            <a:avLst/>
          </a:prstGeom>
          <a:noFill/>
        </p:spPr>
        <p:txBody>
          <a:bodyPr wrap="square" lIns="0" rIns="0" tIns="0" bIns="0"/>
          <a:lstStyle/>
          <a:p>
            <a:pPr algn="l"/>
            <a:r>
              <a:rPr sz="2000" b="0">
                <a:solidFill>
                  <a:srgbClr val="1C1915"/>
                </a:solidFill>
                <a:latin typeface="Calibri"/>
                <a:ea typeface="Calibri"/>
                <a:cs typeface="Calibri"/>
              </a:rPr>
              <a:t>•  Один отзыв на человека и запрет чужой правки.</a:t>
            </a:r>
          </a:p>
        </p:txBody>
      </p:sp>
      <p:sp>
        <p:nvSpPr>
          <p:cNvPr id="11" name="TextBox 10"/>
          <p:cNvSpPr txBox="1"/>
          <p:nvPr/>
        </p:nvSpPr>
        <p:spPr>
          <a:xfrm>
            <a:off x="438912" y="3291840"/>
            <a:ext cx="7498079" cy="457200"/>
          </a:xfrm>
          <a:prstGeom prst="rect">
            <a:avLst/>
          </a:prstGeom>
          <a:noFill/>
        </p:spPr>
        <p:txBody>
          <a:bodyPr wrap="square" lIns="0" rIns="0" tIns="0" bIns="0"/>
          <a:lstStyle/>
          <a:p>
            <a:pPr algn="l"/>
            <a:r>
              <a:rPr sz="2000" b="0">
                <a:solidFill>
                  <a:srgbClr val="1C1915"/>
                </a:solidFill>
                <a:latin typeface="Calibri"/>
                <a:ea typeface="Calibri"/>
                <a:cs typeface="Calibri"/>
              </a:rPr>
              <a:t>•  Восемь автотестов и ручной проход экранов.</a:t>
            </a:r>
          </a:p>
        </p:txBody>
      </p:sp>
      <p:sp>
        <p:nvSpPr>
          <p:cNvPr id="12" name="TextBox 11"/>
          <p:cNvSpPr txBox="1"/>
          <p:nvPr/>
        </p:nvSpPr>
        <p:spPr>
          <a:xfrm>
            <a:off x="438912" y="3931920"/>
            <a:ext cx="11247120" cy="640080"/>
          </a:xfrm>
          <a:prstGeom prst="rect">
            <a:avLst/>
          </a:prstGeom>
          <a:noFill/>
        </p:spPr>
        <p:txBody>
          <a:bodyPr wrap="square" lIns="0" rIns="0" tIns="0" bIns="0"/>
          <a:lstStyle/>
          <a:p>
            <a:pPr algn="l"/>
            <a:r>
              <a:rPr sz="1800" b="0">
                <a:solidFill>
                  <a:srgbClr val="5E564A"/>
                </a:solidFill>
                <a:latin typeface="Calibri"/>
                <a:ea typeface="Calibri"/>
                <a:cs typeface="Calibri"/>
              </a:rPr>
              <a:t>Технологии: Next.js, React, TypeScript, Tailwind, SQLite, Node.js.</a:t>
            </a:r>
          </a:p>
        </p:txBody>
      </p:sp>
      <p:sp>
        <p:nvSpPr>
          <p:cNvPr id="13" name="Rounded Rectangle 12"/>
          <p:cNvSpPr/>
          <p:nvPr/>
        </p:nvSpPr>
        <p:spPr>
          <a:xfrm>
            <a:off x="438912" y="4754880"/>
            <a:ext cx="2761488" cy="137160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2" y="4892040"/>
            <a:ext cx="2761488" cy="548640"/>
          </a:xfrm>
          <a:prstGeom prst="rect">
            <a:avLst/>
          </a:prstGeom>
          <a:noFill/>
        </p:spPr>
        <p:txBody>
          <a:bodyPr wrap="square" lIns="0" rIns="0" tIns="0" bIns="0"/>
          <a:lstStyle/>
          <a:p>
            <a:pPr algn="ctr"/>
            <a:r>
              <a:rPr sz="2800" b="1">
                <a:solidFill>
                  <a:srgbClr val="C2412D"/>
                </a:solidFill>
                <a:latin typeface="Calibri"/>
                <a:ea typeface="Calibri"/>
                <a:cs typeface="Calibri"/>
              </a:rPr>
              <a:t>9</a:t>
            </a:r>
          </a:p>
        </p:txBody>
      </p:sp>
      <p:sp>
        <p:nvSpPr>
          <p:cNvPr id="15" name="TextBox 14"/>
          <p:cNvSpPr txBox="1"/>
          <p:nvPr/>
        </p:nvSpPr>
        <p:spPr>
          <a:xfrm>
            <a:off x="438912" y="5486400"/>
            <a:ext cx="2761488" cy="365760"/>
          </a:xfrm>
          <a:prstGeom prst="rect">
            <a:avLst/>
          </a:prstGeom>
          <a:noFill/>
        </p:spPr>
        <p:txBody>
          <a:bodyPr wrap="square" lIns="0" rIns="0" tIns="0" bIns="0"/>
          <a:lstStyle/>
          <a:p>
            <a:pPr algn="ctr"/>
            <a:r>
              <a:rPr sz="1600" b="0">
                <a:solidFill>
                  <a:srgbClr val="1C1915"/>
                </a:solidFill>
                <a:latin typeface="Calibri"/>
                <a:ea typeface="Calibri"/>
                <a:cs typeface="Calibri"/>
              </a:rPr>
              <a:t>страниц</a:t>
            </a:r>
          </a:p>
        </p:txBody>
      </p:sp>
      <p:sp>
        <p:nvSpPr>
          <p:cNvPr id="16" name="Rounded Rectangle 15"/>
          <p:cNvSpPr/>
          <p:nvPr/>
        </p:nvSpPr>
        <p:spPr>
          <a:xfrm>
            <a:off x="3364992" y="4754880"/>
            <a:ext cx="2761488" cy="137160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64992" y="4892040"/>
            <a:ext cx="2761488" cy="548640"/>
          </a:xfrm>
          <a:prstGeom prst="rect">
            <a:avLst/>
          </a:prstGeom>
          <a:noFill/>
        </p:spPr>
        <p:txBody>
          <a:bodyPr wrap="square" lIns="0" rIns="0" tIns="0" bIns="0"/>
          <a:lstStyle/>
          <a:p>
            <a:pPr algn="ctr"/>
            <a:r>
              <a:rPr sz="2800" b="1">
                <a:solidFill>
                  <a:srgbClr val="C2412D"/>
                </a:solidFill>
                <a:latin typeface="Calibri"/>
                <a:ea typeface="Calibri"/>
                <a:cs typeface="Calibri"/>
              </a:rPr>
              <a:t>8</a:t>
            </a:r>
          </a:p>
        </p:txBody>
      </p:sp>
      <p:sp>
        <p:nvSpPr>
          <p:cNvPr id="18" name="TextBox 17"/>
          <p:cNvSpPr txBox="1"/>
          <p:nvPr/>
        </p:nvSpPr>
        <p:spPr>
          <a:xfrm>
            <a:off x="3364992" y="5486400"/>
            <a:ext cx="2761488" cy="365760"/>
          </a:xfrm>
          <a:prstGeom prst="rect">
            <a:avLst/>
          </a:prstGeom>
          <a:noFill/>
        </p:spPr>
        <p:txBody>
          <a:bodyPr wrap="square" lIns="0" rIns="0" tIns="0" bIns="0"/>
          <a:lstStyle/>
          <a:p>
            <a:pPr algn="ctr"/>
            <a:r>
              <a:rPr sz="1600" b="0">
                <a:solidFill>
                  <a:srgbClr val="1C1915"/>
                </a:solidFill>
                <a:latin typeface="Calibri"/>
                <a:ea typeface="Calibri"/>
                <a:cs typeface="Calibri"/>
              </a:rPr>
              <a:t>тестов</a:t>
            </a:r>
          </a:p>
        </p:txBody>
      </p:sp>
      <p:sp>
        <p:nvSpPr>
          <p:cNvPr id="19" name="Rounded Rectangle 18"/>
          <p:cNvSpPr/>
          <p:nvPr/>
        </p:nvSpPr>
        <p:spPr>
          <a:xfrm>
            <a:off x="6291072" y="4754880"/>
            <a:ext cx="2761488" cy="137160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91072" y="4892040"/>
            <a:ext cx="2761488" cy="548640"/>
          </a:xfrm>
          <a:prstGeom prst="rect">
            <a:avLst/>
          </a:prstGeom>
          <a:noFill/>
        </p:spPr>
        <p:txBody>
          <a:bodyPr wrap="square" lIns="0" rIns="0" tIns="0" bIns="0"/>
          <a:lstStyle/>
          <a:p>
            <a:pPr algn="ctr"/>
            <a:r>
              <a:rPr sz="2800" b="1">
                <a:solidFill>
                  <a:srgbClr val="C2412D"/>
                </a:solidFill>
                <a:latin typeface="Calibri"/>
                <a:ea typeface="Calibri"/>
                <a:cs typeface="Calibri"/>
              </a:rPr>
              <a:t>8</a:t>
            </a:r>
          </a:p>
        </p:txBody>
      </p:sp>
      <p:sp>
        <p:nvSpPr>
          <p:cNvPr id="21" name="TextBox 20"/>
          <p:cNvSpPr txBox="1"/>
          <p:nvPr/>
        </p:nvSpPr>
        <p:spPr>
          <a:xfrm>
            <a:off x="6291072" y="5486400"/>
            <a:ext cx="2761488" cy="365760"/>
          </a:xfrm>
          <a:prstGeom prst="rect">
            <a:avLst/>
          </a:prstGeom>
          <a:noFill/>
        </p:spPr>
        <p:txBody>
          <a:bodyPr wrap="square" lIns="0" rIns="0" tIns="0" bIns="0"/>
          <a:lstStyle/>
          <a:p>
            <a:pPr algn="ctr"/>
            <a:r>
              <a:rPr sz="1600" b="0">
                <a:solidFill>
                  <a:srgbClr val="1C1915"/>
                </a:solidFill>
                <a:latin typeface="Calibri"/>
                <a:ea typeface="Calibri"/>
                <a:cs typeface="Calibri"/>
              </a:rPr>
              <a:t>историй</a:t>
            </a:r>
          </a:p>
        </p:txBody>
      </p:sp>
      <p:sp>
        <p:nvSpPr>
          <p:cNvPr id="22" name="Rounded Rectangle 21"/>
          <p:cNvSpPr/>
          <p:nvPr/>
        </p:nvSpPr>
        <p:spPr>
          <a:xfrm>
            <a:off x="9217152" y="4754880"/>
            <a:ext cx="2761488" cy="137160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17152" y="4892040"/>
            <a:ext cx="2761488" cy="548640"/>
          </a:xfrm>
          <a:prstGeom prst="rect">
            <a:avLst/>
          </a:prstGeom>
          <a:noFill/>
        </p:spPr>
        <p:txBody>
          <a:bodyPr wrap="square" lIns="0" rIns="0" tIns="0" bIns="0"/>
          <a:lstStyle/>
          <a:p>
            <a:pPr algn="ctr"/>
            <a:r>
              <a:rPr sz="2800" b="1">
                <a:solidFill>
                  <a:srgbClr val="C2412D"/>
                </a:solidFill>
                <a:latin typeface="Calibri"/>
                <a:ea typeface="Calibri"/>
                <a:cs typeface="Calibri"/>
              </a:rPr>
              <a:t>10</a:t>
            </a:r>
          </a:p>
        </p:txBody>
      </p:sp>
      <p:sp>
        <p:nvSpPr>
          <p:cNvPr id="24" name="TextBox 23"/>
          <p:cNvSpPr txBox="1"/>
          <p:nvPr/>
        </p:nvSpPr>
        <p:spPr>
          <a:xfrm>
            <a:off x="9217152" y="5486400"/>
            <a:ext cx="2761488" cy="365760"/>
          </a:xfrm>
          <a:prstGeom prst="rect">
            <a:avLst/>
          </a:prstGeom>
          <a:noFill/>
        </p:spPr>
        <p:txBody>
          <a:bodyPr wrap="square" lIns="0" rIns="0" tIns="0" bIns="0"/>
          <a:lstStyle/>
          <a:p>
            <a:pPr algn="ctr"/>
            <a:r>
              <a:rPr sz="1600" b="0">
                <a:solidFill>
                  <a:srgbClr val="1C1915"/>
                </a:solidFill>
                <a:latin typeface="Calibri"/>
                <a:ea typeface="Calibri"/>
                <a:cs typeface="Calibri"/>
              </a:rPr>
              <a:t>игр в каталоге</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91440" cy="6858000"/>
          </a:xfrm>
          <a:prstGeom prst="rect">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6510528"/>
            <a:ext cx="7315200" cy="256032"/>
          </a:xfrm>
          <a:prstGeom prst="rect">
            <a:avLst/>
          </a:prstGeom>
          <a:noFill/>
        </p:spPr>
        <p:txBody>
          <a:bodyPr wrap="square" lIns="0" rIns="0" tIns="0" bIns="0"/>
          <a:lstStyle/>
          <a:p>
            <a:pPr algn="l"/>
            <a:r>
              <a:rPr sz="1300" b="0">
                <a:solidFill>
                  <a:srgbClr val="5E564A"/>
                </a:solidFill>
                <a:latin typeface="Calibri"/>
                <a:ea typeface="Calibri"/>
                <a:cs typeface="Calibri"/>
              </a:rPr>
              <a:t>Полка  ·  отзывы на игры</a:t>
            </a:r>
          </a:p>
        </p:txBody>
      </p:sp>
      <p:sp>
        <p:nvSpPr>
          <p:cNvPr id="4" name="TextBox 3"/>
          <p:cNvSpPr txBox="1"/>
          <p:nvPr/>
        </p:nvSpPr>
        <p:spPr>
          <a:xfrm>
            <a:off x="9692640" y="6510528"/>
            <a:ext cx="2103120" cy="256032"/>
          </a:xfrm>
          <a:prstGeom prst="rect">
            <a:avLst/>
          </a:prstGeom>
          <a:noFill/>
        </p:spPr>
        <p:txBody>
          <a:bodyPr wrap="square" lIns="0" rIns="0" tIns="0" bIns="0"/>
          <a:lstStyle/>
          <a:p>
            <a:pPr algn="r"/>
            <a:r>
              <a:rPr sz="1300" b="0">
                <a:solidFill>
                  <a:srgbClr val="5E564A"/>
                </a:solidFill>
                <a:latin typeface="Calibri"/>
                <a:ea typeface="Calibri"/>
                <a:cs typeface="Calibri"/>
              </a:rPr>
              <a:t>12  /  14</a:t>
            </a:r>
          </a:p>
        </p:txBody>
      </p:sp>
      <p:sp>
        <p:nvSpPr>
          <p:cNvPr id="5" name="TextBox 4"/>
          <p:cNvSpPr txBox="1"/>
          <p:nvPr/>
        </p:nvSpPr>
        <p:spPr>
          <a:xfrm>
            <a:off x="438912" y="256032"/>
            <a:ext cx="10972800" cy="256032"/>
          </a:xfrm>
          <a:prstGeom prst="rect">
            <a:avLst/>
          </a:prstGeom>
          <a:noFill/>
        </p:spPr>
        <p:txBody>
          <a:bodyPr wrap="square" lIns="0" rIns="0" tIns="0" bIns="0"/>
          <a:lstStyle/>
          <a:p>
            <a:pPr algn="l"/>
            <a:r>
              <a:rPr sz="1300" b="1">
                <a:solidFill>
                  <a:srgbClr val="C2412D"/>
                </a:solidFill>
                <a:latin typeface="Calibri"/>
                <a:ea typeface="Calibri"/>
                <a:cs typeface="Calibri"/>
              </a:rPr>
              <a:t>РЕЗУЛЬТАТЫ</a:t>
            </a:r>
          </a:p>
        </p:txBody>
      </p:sp>
      <p:sp>
        <p:nvSpPr>
          <p:cNvPr id="6" name="TextBox 5"/>
          <p:cNvSpPr txBox="1"/>
          <p:nvPr/>
        </p:nvSpPr>
        <p:spPr>
          <a:xfrm>
            <a:off x="438912" y="530352"/>
            <a:ext cx="11155680" cy="777240"/>
          </a:xfrm>
          <a:prstGeom prst="rect">
            <a:avLst/>
          </a:prstGeom>
          <a:noFill/>
        </p:spPr>
        <p:txBody>
          <a:bodyPr wrap="square" lIns="0" rIns="0" tIns="0" bIns="0"/>
          <a:lstStyle/>
          <a:p>
            <a:pPr algn="l"/>
            <a:r>
              <a:rPr sz="3200" b="1">
                <a:solidFill>
                  <a:srgbClr val="1C1915"/>
                </a:solidFill>
                <a:latin typeface="Calibri"/>
                <a:ea typeface="Calibri"/>
                <a:cs typeface="Calibri"/>
              </a:rPr>
              <a:t>Что получилось</a:t>
            </a:r>
          </a:p>
        </p:txBody>
      </p:sp>
      <p:sp>
        <p:nvSpPr>
          <p:cNvPr id="7" name="Rounded Rectangle 6"/>
          <p:cNvSpPr/>
          <p:nvPr/>
        </p:nvSpPr>
        <p:spPr>
          <a:xfrm>
            <a:off x="438912" y="1737360"/>
            <a:ext cx="5623560" cy="196596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965960"/>
            <a:ext cx="5074920" cy="457200"/>
          </a:xfrm>
          <a:prstGeom prst="rect">
            <a:avLst/>
          </a:prstGeom>
          <a:noFill/>
        </p:spPr>
        <p:txBody>
          <a:bodyPr wrap="square" lIns="0" rIns="0" tIns="0" bIns="0"/>
          <a:lstStyle/>
          <a:p>
            <a:pPr algn="l"/>
            <a:r>
              <a:rPr sz="2400" b="1">
                <a:solidFill>
                  <a:srgbClr val="1C1915"/>
                </a:solidFill>
                <a:latin typeface="Calibri"/>
                <a:ea typeface="Calibri"/>
                <a:cs typeface="Calibri"/>
              </a:rPr>
              <a:t>10 игр</a:t>
            </a:r>
          </a:p>
        </p:txBody>
      </p:sp>
      <p:sp>
        <p:nvSpPr>
          <p:cNvPr id="9" name="TextBox 8"/>
          <p:cNvSpPr txBox="1"/>
          <p:nvPr/>
        </p:nvSpPr>
        <p:spPr>
          <a:xfrm>
            <a:off x="713232" y="2606039"/>
            <a:ext cx="5074920" cy="822960"/>
          </a:xfrm>
          <a:prstGeom prst="rect">
            <a:avLst/>
          </a:prstGeom>
          <a:noFill/>
        </p:spPr>
        <p:txBody>
          <a:bodyPr wrap="square" lIns="0" rIns="0" tIns="0" bIns="0"/>
          <a:lstStyle/>
          <a:p>
            <a:pPr algn="l"/>
            <a:r>
              <a:rPr sz="1800" b="0">
                <a:solidFill>
                  <a:srgbClr val="5E564A"/>
                </a:solidFill>
                <a:latin typeface="Calibri"/>
                <a:ea typeface="Calibri"/>
                <a:cs typeface="Calibri"/>
              </a:rPr>
              <a:t>Стартовый каталог и 16 отзывов. Средняя считается на сайте.</a:t>
            </a:r>
          </a:p>
        </p:txBody>
      </p:sp>
      <p:sp>
        <p:nvSpPr>
          <p:cNvPr id="10" name="Rounded Rectangle 9"/>
          <p:cNvSpPr/>
          <p:nvPr/>
        </p:nvSpPr>
        <p:spPr>
          <a:xfrm>
            <a:off x="6291072" y="1737360"/>
            <a:ext cx="5623560" cy="196596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65392" y="1965960"/>
            <a:ext cx="5074920" cy="457200"/>
          </a:xfrm>
          <a:prstGeom prst="rect">
            <a:avLst/>
          </a:prstGeom>
          <a:noFill/>
        </p:spPr>
        <p:txBody>
          <a:bodyPr wrap="square" lIns="0" rIns="0" tIns="0" bIns="0"/>
          <a:lstStyle/>
          <a:p>
            <a:pPr algn="l"/>
            <a:r>
              <a:rPr sz="2400" b="1">
                <a:solidFill>
                  <a:srgbClr val="1C1915"/>
                </a:solidFill>
                <a:latin typeface="Calibri"/>
                <a:ea typeface="Calibri"/>
                <a:cs typeface="Calibri"/>
              </a:rPr>
              <a:t>Честная оценка</a:t>
            </a:r>
          </a:p>
        </p:txBody>
      </p:sp>
      <p:sp>
        <p:nvSpPr>
          <p:cNvPr id="12" name="TextBox 11"/>
          <p:cNvSpPr txBox="1"/>
          <p:nvPr/>
        </p:nvSpPr>
        <p:spPr>
          <a:xfrm>
            <a:off x="6565392" y="2606039"/>
            <a:ext cx="5074920" cy="822960"/>
          </a:xfrm>
          <a:prstGeom prst="rect">
            <a:avLst/>
          </a:prstGeom>
          <a:noFill/>
        </p:spPr>
        <p:txBody>
          <a:bodyPr wrap="square" lIns="0" rIns="0" tIns="0" bIns="0"/>
          <a:lstStyle/>
          <a:p>
            <a:pPr algn="l"/>
            <a:r>
              <a:rPr sz="1800" b="0">
                <a:solidFill>
                  <a:srgbClr val="5E564A"/>
                </a:solidFill>
                <a:latin typeface="Calibri"/>
                <a:ea typeface="Calibri"/>
                <a:cs typeface="Calibri"/>
              </a:rPr>
              <a:t>Один отзыв на пару «человек + игра». Чужое изменить нельзя.</a:t>
            </a:r>
          </a:p>
        </p:txBody>
      </p:sp>
      <p:sp>
        <p:nvSpPr>
          <p:cNvPr id="13" name="Rounded Rectangle 12"/>
          <p:cNvSpPr/>
          <p:nvPr/>
        </p:nvSpPr>
        <p:spPr>
          <a:xfrm>
            <a:off x="438912" y="3886200"/>
            <a:ext cx="5623560" cy="196596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4114800"/>
            <a:ext cx="5074920" cy="457200"/>
          </a:xfrm>
          <a:prstGeom prst="rect">
            <a:avLst/>
          </a:prstGeom>
          <a:noFill/>
        </p:spPr>
        <p:txBody>
          <a:bodyPr wrap="square" lIns="0" rIns="0" tIns="0" bIns="0"/>
          <a:lstStyle/>
          <a:p>
            <a:pPr algn="l"/>
            <a:r>
              <a:rPr sz="2400" b="1">
                <a:solidFill>
                  <a:srgbClr val="1C1915"/>
                </a:solidFill>
                <a:latin typeface="Calibri"/>
                <a:ea typeface="Calibri"/>
                <a:cs typeface="Calibri"/>
              </a:rPr>
              <a:t>Внешние данные</a:t>
            </a:r>
          </a:p>
        </p:txBody>
      </p:sp>
      <p:sp>
        <p:nvSpPr>
          <p:cNvPr id="15" name="TextBox 14"/>
          <p:cNvSpPr txBox="1"/>
          <p:nvPr/>
        </p:nvSpPr>
        <p:spPr>
          <a:xfrm>
            <a:off x="713232" y="4754880"/>
            <a:ext cx="5074920" cy="822960"/>
          </a:xfrm>
          <a:prstGeom prst="rect">
            <a:avLst/>
          </a:prstGeom>
          <a:noFill/>
        </p:spPr>
        <p:txBody>
          <a:bodyPr wrap="square" lIns="0" rIns="0" tIns="0" bIns="0"/>
          <a:lstStyle/>
          <a:p>
            <a:pPr algn="l"/>
            <a:r>
              <a:rPr sz="1800" b="0">
                <a:solidFill>
                  <a:srgbClr val="5E564A"/>
                </a:solidFill>
                <a:latin typeface="Calibri"/>
                <a:ea typeface="Calibri"/>
                <a:cs typeface="Calibri"/>
              </a:rPr>
              <a:t>Обложка, ссылка на магазин и оценка этого магазина на кнопке.</a:t>
            </a:r>
          </a:p>
        </p:txBody>
      </p:sp>
      <p:sp>
        <p:nvSpPr>
          <p:cNvPr id="16" name="Rounded Rectangle 15"/>
          <p:cNvSpPr/>
          <p:nvPr/>
        </p:nvSpPr>
        <p:spPr>
          <a:xfrm>
            <a:off x="6291072" y="3886200"/>
            <a:ext cx="5623560" cy="196596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65392" y="4114800"/>
            <a:ext cx="5074920" cy="457200"/>
          </a:xfrm>
          <a:prstGeom prst="rect">
            <a:avLst/>
          </a:prstGeom>
          <a:noFill/>
        </p:spPr>
        <p:txBody>
          <a:bodyPr wrap="square" lIns="0" rIns="0" tIns="0" bIns="0"/>
          <a:lstStyle/>
          <a:p>
            <a:pPr algn="l"/>
            <a:r>
              <a:rPr sz="2400" b="1">
                <a:solidFill>
                  <a:srgbClr val="1C1915"/>
                </a:solidFill>
                <a:latin typeface="Calibri"/>
                <a:ea typeface="Calibri"/>
                <a:cs typeface="Calibri"/>
              </a:rPr>
              <a:t>Новинки</a:t>
            </a:r>
          </a:p>
        </p:txBody>
      </p:sp>
      <p:sp>
        <p:nvSpPr>
          <p:cNvPr id="18" name="TextBox 17"/>
          <p:cNvSpPr txBox="1"/>
          <p:nvPr/>
        </p:nvSpPr>
        <p:spPr>
          <a:xfrm>
            <a:off x="6565392" y="4754880"/>
            <a:ext cx="5074920" cy="822960"/>
          </a:xfrm>
          <a:prstGeom prst="rect">
            <a:avLst/>
          </a:prstGeom>
          <a:noFill/>
        </p:spPr>
        <p:txBody>
          <a:bodyPr wrap="square" lIns="0" rIns="0" tIns="0" bIns="0"/>
          <a:lstStyle/>
          <a:p>
            <a:pPr algn="l"/>
            <a:r>
              <a:rPr sz="1800" b="0">
                <a:solidFill>
                  <a:srgbClr val="5E564A"/>
                </a:solidFill>
                <a:latin typeface="Calibri"/>
                <a:ea typeface="Calibri"/>
                <a:cs typeface="Calibri"/>
              </a:rPr>
              <a:t>Даты со страницы магазина. Цена в рублях, тенге, долларах и евро.</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91440" cy="6858000"/>
          </a:xfrm>
          <a:prstGeom prst="rect">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6510528"/>
            <a:ext cx="7315200" cy="256032"/>
          </a:xfrm>
          <a:prstGeom prst="rect">
            <a:avLst/>
          </a:prstGeom>
          <a:noFill/>
        </p:spPr>
        <p:txBody>
          <a:bodyPr wrap="square" lIns="0" rIns="0" tIns="0" bIns="0"/>
          <a:lstStyle/>
          <a:p>
            <a:pPr algn="l"/>
            <a:r>
              <a:rPr sz="1300" b="0">
                <a:solidFill>
                  <a:srgbClr val="5E564A"/>
                </a:solidFill>
                <a:latin typeface="Calibri"/>
                <a:ea typeface="Calibri"/>
                <a:cs typeface="Calibri"/>
              </a:rPr>
              <a:t>Полка  ·  отзывы на игры</a:t>
            </a:r>
          </a:p>
        </p:txBody>
      </p:sp>
      <p:sp>
        <p:nvSpPr>
          <p:cNvPr id="4" name="TextBox 3"/>
          <p:cNvSpPr txBox="1"/>
          <p:nvPr/>
        </p:nvSpPr>
        <p:spPr>
          <a:xfrm>
            <a:off x="9692640" y="6510528"/>
            <a:ext cx="2103120" cy="256032"/>
          </a:xfrm>
          <a:prstGeom prst="rect">
            <a:avLst/>
          </a:prstGeom>
          <a:noFill/>
        </p:spPr>
        <p:txBody>
          <a:bodyPr wrap="square" lIns="0" rIns="0" tIns="0" bIns="0"/>
          <a:lstStyle/>
          <a:p>
            <a:pPr algn="r"/>
            <a:r>
              <a:rPr sz="1300" b="0">
                <a:solidFill>
                  <a:srgbClr val="5E564A"/>
                </a:solidFill>
                <a:latin typeface="Calibri"/>
                <a:ea typeface="Calibri"/>
                <a:cs typeface="Calibri"/>
              </a:rPr>
              <a:t>13  /  14</a:t>
            </a:r>
          </a:p>
        </p:txBody>
      </p:sp>
      <p:sp>
        <p:nvSpPr>
          <p:cNvPr id="5" name="TextBox 4"/>
          <p:cNvSpPr txBox="1"/>
          <p:nvPr/>
        </p:nvSpPr>
        <p:spPr>
          <a:xfrm>
            <a:off x="438912" y="256032"/>
            <a:ext cx="10972800" cy="256032"/>
          </a:xfrm>
          <a:prstGeom prst="rect">
            <a:avLst/>
          </a:prstGeom>
          <a:noFill/>
        </p:spPr>
        <p:txBody>
          <a:bodyPr wrap="square" lIns="0" rIns="0" tIns="0" bIns="0"/>
          <a:lstStyle/>
          <a:p>
            <a:pPr algn="l"/>
            <a:r>
              <a:rPr sz="1300" b="1">
                <a:solidFill>
                  <a:srgbClr val="C2412D"/>
                </a:solidFill>
                <a:latin typeface="Calibri"/>
                <a:ea typeface="Calibri"/>
                <a:cs typeface="Calibri"/>
              </a:rPr>
              <a:t>ПЛАН РАЗВИТИЯ</a:t>
            </a:r>
          </a:p>
        </p:txBody>
      </p:sp>
      <p:sp>
        <p:nvSpPr>
          <p:cNvPr id="6" name="TextBox 5"/>
          <p:cNvSpPr txBox="1"/>
          <p:nvPr/>
        </p:nvSpPr>
        <p:spPr>
          <a:xfrm>
            <a:off x="438912" y="530352"/>
            <a:ext cx="11155680" cy="777240"/>
          </a:xfrm>
          <a:prstGeom prst="rect">
            <a:avLst/>
          </a:prstGeom>
          <a:noFill/>
        </p:spPr>
        <p:txBody>
          <a:bodyPr wrap="square" lIns="0" rIns="0" tIns="0" bIns="0"/>
          <a:lstStyle/>
          <a:p>
            <a:pPr algn="l"/>
            <a:r>
              <a:rPr sz="3200" b="1">
                <a:solidFill>
                  <a:srgbClr val="1C1915"/>
                </a:solidFill>
                <a:latin typeface="Calibri"/>
                <a:ea typeface="Calibri"/>
                <a:cs typeface="Calibri"/>
              </a:rPr>
              <a:t>Куда можно расти</a:t>
            </a:r>
          </a:p>
        </p:txBody>
      </p:sp>
      <p:sp>
        <p:nvSpPr>
          <p:cNvPr id="7" name="Rounded Rectangle 6"/>
          <p:cNvSpPr/>
          <p:nvPr/>
        </p:nvSpPr>
        <p:spPr>
          <a:xfrm>
            <a:off x="438912" y="1737360"/>
            <a:ext cx="5532120" cy="4206240"/>
          </a:xfrm>
          <a:prstGeom prst="roundRect">
            <a:avLst>
              <a:gd name="adj" fmla="val 8000"/>
            </a:avLst>
          </a:prstGeom>
          <a:solidFill>
            <a:srgbClr val="FFFCF6"/>
          </a:solidFill>
          <a:ln w="12700">
            <a:solidFill>
              <a:srgbClr val="E0D6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965960"/>
            <a:ext cx="5029200" cy="411480"/>
          </a:xfrm>
          <a:prstGeom prst="rect">
            <a:avLst/>
          </a:prstGeom>
          <a:noFill/>
        </p:spPr>
        <p:txBody>
          <a:bodyPr wrap="square" lIns="0" rIns="0" tIns="0" bIns="0"/>
          <a:lstStyle/>
          <a:p>
            <a:pPr algn="l"/>
            <a:r>
              <a:rPr sz="2400" b="1">
                <a:solidFill>
                  <a:srgbClr val="1C1915"/>
                </a:solidFill>
                <a:latin typeface="Calibri"/>
                <a:ea typeface="Calibri"/>
                <a:cs typeface="Calibri"/>
              </a:rPr>
              <a:t>Ближайшее</a:t>
            </a:r>
          </a:p>
        </p:txBody>
      </p:sp>
      <p:sp>
        <p:nvSpPr>
          <p:cNvPr id="9" name="TextBox 8"/>
          <p:cNvSpPr txBox="1"/>
          <p:nvPr/>
        </p:nvSpPr>
        <p:spPr>
          <a:xfrm>
            <a:off x="713232" y="2651760"/>
            <a:ext cx="4937760" cy="2834640"/>
          </a:xfrm>
          <a:prstGeom prst="rect">
            <a:avLst/>
          </a:prstGeom>
          <a:noFill/>
        </p:spPr>
        <p:txBody>
          <a:bodyPr wrap="square" lIns="0" rIns="0" tIns="0" bIns="0">
            <a:spAutoFit/>
          </a:bodyPr>
          <a:lstStyle/>
          <a:p>
            <a:pPr algn="l">
              <a:spcAft>
                <a:spcPts val="1600"/>
              </a:spcAft>
            </a:pPr>
            <a:r>
              <a:rPr sz="2000" b="0">
                <a:solidFill>
                  <a:srgbClr val="1C1915"/>
                </a:solidFill>
                <a:latin typeface="Calibri"/>
                <a:ea typeface="Calibri"/>
                <a:cs typeface="Calibri"/>
              </a:rPr>
              <a:t>Отзыв на карточке новинки.</a:t>
            </a:r>
          </a:p>
          <a:p>
            <a:pPr algn="l">
              <a:spcAft>
                <a:spcPts val="1600"/>
              </a:spcAft>
            </a:pPr>
            <a:r>
              <a:rPr sz="2000" b="0">
                <a:solidFill>
                  <a:srgbClr val="1C1915"/>
                </a:solidFill>
                <a:latin typeface="Calibri"/>
                <a:ea typeface="Calibri"/>
                <a:cs typeface="Calibri"/>
              </a:rPr>
              <a:t>Больше игр в стартовом наборе.</a:t>
            </a:r>
          </a:p>
          <a:p>
            <a:pPr algn="l">
              <a:spcAft>
                <a:spcPts val="1600"/>
              </a:spcAft>
            </a:pPr>
            <a:r>
              <a:rPr sz="2000" b="0">
                <a:solidFill>
                  <a:srgbClr val="1C1915"/>
                </a:solidFill>
                <a:latin typeface="Calibri"/>
                <a:ea typeface="Calibri"/>
                <a:cs typeface="Calibri"/>
              </a:rPr>
              <a:t>Своя оценка не смешивается с оценкой магазина.</a:t>
            </a:r>
          </a:p>
        </p:txBody>
      </p:sp>
      <p:sp>
        <p:nvSpPr>
          <p:cNvPr id="10" name="Rounded Rectangle 9"/>
          <p:cNvSpPr/>
          <p:nvPr/>
        </p:nvSpPr>
        <p:spPr>
          <a:xfrm>
            <a:off x="6217920" y="1737360"/>
            <a:ext cx="5532120" cy="4206240"/>
          </a:xfrm>
          <a:prstGeom prst="roundRect">
            <a:avLst>
              <a:gd name="adj" fmla="val 8000"/>
            </a:avLst>
          </a:prstGeom>
          <a:solidFill>
            <a:srgbClr val="1C191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965960"/>
            <a:ext cx="5029200" cy="411480"/>
          </a:xfrm>
          <a:prstGeom prst="rect">
            <a:avLst/>
          </a:prstGeom>
          <a:noFill/>
        </p:spPr>
        <p:txBody>
          <a:bodyPr wrap="square" lIns="0" rIns="0" tIns="0" bIns="0"/>
          <a:lstStyle/>
          <a:p>
            <a:pPr algn="l"/>
            <a:r>
              <a:rPr sz="2400" b="1">
                <a:solidFill>
                  <a:srgbClr val="FFFCF6"/>
                </a:solidFill>
                <a:latin typeface="Calibri"/>
                <a:ea typeface="Calibri"/>
                <a:cs typeface="Calibri"/>
              </a:rPr>
              <a:t>Позже</a:t>
            </a:r>
          </a:p>
        </p:txBody>
      </p:sp>
      <p:sp>
        <p:nvSpPr>
          <p:cNvPr id="12" name="TextBox 11"/>
          <p:cNvSpPr txBox="1"/>
          <p:nvPr/>
        </p:nvSpPr>
        <p:spPr>
          <a:xfrm>
            <a:off x="6492240" y="2651760"/>
            <a:ext cx="4937760" cy="2834640"/>
          </a:xfrm>
          <a:prstGeom prst="rect">
            <a:avLst/>
          </a:prstGeom>
          <a:noFill/>
        </p:spPr>
        <p:txBody>
          <a:bodyPr wrap="square" lIns="0" rIns="0" tIns="0" bIns="0">
            <a:spAutoFit/>
          </a:bodyPr>
          <a:lstStyle/>
          <a:p>
            <a:pPr algn="l">
              <a:spcAft>
                <a:spcPts val="1600"/>
              </a:spcAft>
            </a:pPr>
            <a:r>
              <a:rPr sz="2000" b="0">
                <a:solidFill>
                  <a:srgbClr val="FFFCF6"/>
                </a:solidFill>
                <a:latin typeface="Calibri"/>
                <a:ea typeface="Calibri"/>
                <a:cs typeface="Calibri"/>
              </a:rPr>
              <a:t>Постоянный адрес, чтобы сайт жил без включённого компьютера.</a:t>
            </a:r>
          </a:p>
          <a:p>
            <a:pPr algn="l">
              <a:spcAft>
                <a:spcPts val="1600"/>
              </a:spcAft>
            </a:pPr>
            <a:r>
              <a:rPr sz="2000" b="0">
                <a:solidFill>
                  <a:srgbClr val="FFFCF6"/>
                </a:solidFill>
                <a:latin typeface="Calibri"/>
                <a:ea typeface="Calibri"/>
                <a:cs typeface="Calibri"/>
              </a:rPr>
              <a:t>Кабинет студии для чтения отзывов своего круга.</a:t>
            </a:r>
          </a:p>
          <a:p>
            <a:pPr algn="l">
              <a:spcAft>
                <a:spcPts val="1600"/>
              </a:spcAft>
            </a:pPr>
            <a:r>
              <a:rPr sz="2000" b="0">
                <a:solidFill>
                  <a:srgbClr val="FFFCF6"/>
                </a:solidFill>
                <a:latin typeface="Calibri"/>
                <a:ea typeface="Calibri"/>
                <a:cs typeface="Calibri"/>
              </a:rPr>
              <a:t>Продажи игр по-прежнему нет.</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EFE6"/>
        </a:solidFill>
        <a:effectLst/>
      </p:bgPr>
    </p:bg>
    <p:spTree>
      <p:nvGrpSpPr>
        <p:cNvPr id="1" name=""/>
        <p:cNvGrpSpPr/>
        <p:nvPr/>
      </p:nvGrpSpPr>
      <p:grpSpPr/>
      <p:sp>
        <p:nvSpPr>
          <p:cNvPr id="2" name="Rectangle 1"/>
          <p:cNvSpPr/>
          <p:nvPr/>
        </p:nvSpPr>
        <p:spPr>
          <a:xfrm>
            <a:off x="0" y="0"/>
            <a:ext cx="91440" cy="6858000"/>
          </a:xfrm>
          <a:prstGeom prst="rect">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38912" y="6510528"/>
            <a:ext cx="7315200" cy="256032"/>
          </a:xfrm>
          <a:prstGeom prst="rect">
            <a:avLst/>
          </a:prstGeom>
          <a:noFill/>
        </p:spPr>
        <p:txBody>
          <a:bodyPr wrap="square" lIns="0" rIns="0" tIns="0" bIns="0"/>
          <a:lstStyle/>
          <a:p>
            <a:pPr algn="l"/>
            <a:r>
              <a:rPr sz="1300" b="0">
                <a:solidFill>
                  <a:srgbClr val="5E564A"/>
                </a:solidFill>
                <a:latin typeface="Calibri"/>
                <a:ea typeface="Calibri"/>
                <a:cs typeface="Calibri"/>
              </a:rPr>
              <a:t>Полка  ·  отзывы на игры</a:t>
            </a:r>
          </a:p>
        </p:txBody>
      </p:sp>
      <p:sp>
        <p:nvSpPr>
          <p:cNvPr id="4" name="TextBox 3"/>
          <p:cNvSpPr txBox="1"/>
          <p:nvPr/>
        </p:nvSpPr>
        <p:spPr>
          <a:xfrm>
            <a:off x="9692640" y="6510528"/>
            <a:ext cx="2103120" cy="256032"/>
          </a:xfrm>
          <a:prstGeom prst="rect">
            <a:avLst/>
          </a:prstGeom>
          <a:noFill/>
        </p:spPr>
        <p:txBody>
          <a:bodyPr wrap="square" lIns="0" rIns="0" tIns="0" bIns="0"/>
          <a:lstStyle/>
          <a:p>
            <a:pPr algn="r"/>
            <a:r>
              <a:rPr sz="1300" b="0">
                <a:solidFill>
                  <a:srgbClr val="5E564A"/>
                </a:solidFill>
                <a:latin typeface="Calibri"/>
                <a:ea typeface="Calibri"/>
                <a:cs typeface="Calibri"/>
              </a:rPr>
              <a:t>14  /  14</a:t>
            </a:r>
          </a:p>
        </p:txBody>
      </p:sp>
      <p:sp>
        <p:nvSpPr>
          <p:cNvPr id="5" name="TextBox 4"/>
          <p:cNvSpPr txBox="1"/>
          <p:nvPr/>
        </p:nvSpPr>
        <p:spPr>
          <a:xfrm>
            <a:off x="438912" y="256032"/>
            <a:ext cx="10972800" cy="256032"/>
          </a:xfrm>
          <a:prstGeom prst="rect">
            <a:avLst/>
          </a:prstGeom>
          <a:noFill/>
        </p:spPr>
        <p:txBody>
          <a:bodyPr wrap="square" lIns="0" rIns="0" tIns="0" bIns="0"/>
          <a:lstStyle/>
          <a:p>
            <a:pPr algn="l"/>
            <a:r>
              <a:rPr sz="1300" b="1">
                <a:solidFill>
                  <a:srgbClr val="C2412D"/>
                </a:solidFill>
                <a:latin typeface="Calibri"/>
                <a:ea typeface="Calibri"/>
                <a:cs typeface="Calibri"/>
              </a:rPr>
              <a:t>ЗАКЛЮЧЕНИЕ</a:t>
            </a:r>
          </a:p>
        </p:txBody>
      </p:sp>
      <p:sp>
        <p:nvSpPr>
          <p:cNvPr id="6" name="TextBox 5"/>
          <p:cNvSpPr txBox="1"/>
          <p:nvPr/>
        </p:nvSpPr>
        <p:spPr>
          <a:xfrm>
            <a:off x="438912" y="530352"/>
            <a:ext cx="11155680" cy="777240"/>
          </a:xfrm>
          <a:prstGeom prst="rect">
            <a:avLst/>
          </a:prstGeom>
          <a:noFill/>
        </p:spPr>
        <p:txBody>
          <a:bodyPr wrap="square" lIns="0" rIns="0" tIns="0" bIns="0"/>
          <a:lstStyle/>
          <a:p>
            <a:pPr algn="l"/>
            <a:r>
              <a:rPr sz="3200" b="1">
                <a:solidFill>
                  <a:srgbClr val="1C1915"/>
                </a:solidFill>
                <a:latin typeface="Calibri"/>
                <a:ea typeface="Calibri"/>
                <a:cs typeface="Calibri"/>
              </a:rPr>
              <a:t>Полка считает свою среднюю</a:t>
            </a:r>
          </a:p>
        </p:txBody>
      </p:sp>
      <p:sp>
        <p:nvSpPr>
          <p:cNvPr id="7" name="TextBox 6"/>
          <p:cNvSpPr txBox="1"/>
          <p:nvPr/>
        </p:nvSpPr>
        <p:spPr>
          <a:xfrm>
            <a:off x="438912" y="1965960"/>
            <a:ext cx="11155680" cy="2194560"/>
          </a:xfrm>
          <a:prstGeom prst="rect">
            <a:avLst/>
          </a:prstGeom>
          <a:noFill/>
        </p:spPr>
        <p:txBody>
          <a:bodyPr wrap="square" lIns="0" rIns="0" tIns="0" bIns="0">
            <a:spAutoFit/>
          </a:bodyPr>
          <a:lstStyle/>
          <a:p>
            <a:pPr algn="l">
              <a:spcAft>
                <a:spcPts val="1400"/>
              </a:spcAft>
            </a:pPr>
            <a:r>
              <a:rPr sz="2600" b="0">
                <a:solidFill>
                  <a:srgbClr val="1C1915"/>
                </a:solidFill>
                <a:latin typeface="Calibri"/>
                <a:ea typeface="Calibri"/>
                <a:cs typeface="Calibri"/>
              </a:rPr>
              <a:t>Каталог отзывов, где у текста есть имя автора.</a:t>
            </a:r>
          </a:p>
          <a:p>
            <a:pPr algn="l">
              <a:spcAft>
                <a:spcPts val="1400"/>
              </a:spcAft>
            </a:pPr>
            <a:r>
              <a:rPr sz="2600" b="0">
                <a:solidFill>
                  <a:srgbClr val="1C1915"/>
                </a:solidFill>
                <a:latin typeface="Calibri"/>
                <a:ea typeface="Calibri"/>
                <a:cs typeface="Calibri"/>
              </a:rPr>
              <a:t>Один человек — один отзыв. Чужое изменить нельзя.</a:t>
            </a:r>
          </a:p>
          <a:p>
            <a:pPr algn="l">
              <a:spcAft>
                <a:spcPts val="1400"/>
              </a:spcAft>
            </a:pPr>
            <a:r>
              <a:rPr sz="2600" b="0">
                <a:solidFill>
                  <a:srgbClr val="1C1915"/>
                </a:solidFill>
                <a:latin typeface="Calibri"/>
                <a:ea typeface="Calibri"/>
                <a:cs typeface="Calibri"/>
              </a:rPr>
              <a:t>Прототип открывается и проходит основные сценарии.</a:t>
            </a:r>
          </a:p>
        </p:txBody>
      </p:sp>
      <p:sp>
        <p:nvSpPr>
          <p:cNvPr id="8" name="Rectangle 7"/>
          <p:cNvSpPr/>
          <p:nvPr/>
        </p:nvSpPr>
        <p:spPr>
          <a:xfrm>
            <a:off x="438912" y="4480560"/>
            <a:ext cx="2011680" cy="54864"/>
          </a:xfrm>
          <a:prstGeom prst="rect">
            <a:avLst/>
          </a:prstGeom>
          <a:solidFill>
            <a:srgbClr val="C241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8912" y="4754880"/>
            <a:ext cx="9144000" cy="411480"/>
          </a:xfrm>
          <a:prstGeom prst="rect">
            <a:avLst/>
          </a:prstGeom>
          <a:noFill/>
        </p:spPr>
        <p:txBody>
          <a:bodyPr wrap="square" lIns="0" rIns="0" tIns="0" bIns="0"/>
          <a:lstStyle/>
          <a:p>
            <a:pPr algn="l"/>
            <a:r>
              <a:rPr sz="2400" b="1">
                <a:solidFill>
                  <a:srgbClr val="1C1915"/>
                </a:solidFill>
                <a:latin typeface="Calibri"/>
                <a:ea typeface="Calibri"/>
                <a:cs typeface="Calibri"/>
              </a:rPr>
              <a:t>Иванов Никита Сергеевич</a:t>
            </a:r>
          </a:p>
        </p:txBody>
      </p:sp>
      <p:sp>
        <p:nvSpPr>
          <p:cNvPr id="10" name="TextBox 9"/>
          <p:cNvSpPr txBox="1"/>
          <p:nvPr/>
        </p:nvSpPr>
        <p:spPr>
          <a:xfrm>
            <a:off x="438912" y="5257800"/>
            <a:ext cx="9144000" cy="365760"/>
          </a:xfrm>
          <a:prstGeom prst="rect">
            <a:avLst/>
          </a:prstGeom>
          <a:noFill/>
        </p:spPr>
        <p:txBody>
          <a:bodyPr wrap="square" lIns="0" rIns="0" tIns="0" bIns="0"/>
          <a:lstStyle/>
          <a:p>
            <a:pPr algn="l"/>
            <a:r>
              <a:rPr sz="2000" b="0">
                <a:solidFill>
                  <a:srgbClr val="5E564A"/>
                </a:solidFill>
                <a:latin typeface="Calibri"/>
                <a:ea typeface="Calibri"/>
                <a:cs typeface="Calibri"/>
              </a:rPr>
              <a:t>Группа БПИ2304  ·  готов ответить на вопросы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Полка — отзывы на игры</dc:title>
  <dc:subject>Проектный практикум</dc:subject>
  <dc:creator>Иванов Никита Сергеевич</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